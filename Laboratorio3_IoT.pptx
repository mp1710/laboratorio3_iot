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4" r:id="rId6"/>
    <p:sldId id="262" r:id="rId7"/>
    <p:sldId id="269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spressif.com/projects/esp-idf/en/stable/esp32/api-reference/system/freertos_idf.html#_CPPv427uxTaskGetStackHighWaterMark12TaskHandle_t" TargetMode="External" /><Relationship Id="rId2" Type="http://schemas.openxmlformats.org/officeDocument/2006/relationships/hyperlink" Target="https://webasignatura.ucu.edu.uy/pluginfile.php/1164065/mod_resource/content/14/M%C3%B3dulo%202%20-%20SisEm.pdf" TargetMode="External" /><Relationship Id="rId1" Type="http://schemas.openxmlformats.org/officeDocument/2006/relationships/slideLayout" Target="../slideLayouts/slideLayout7.xml" /><Relationship Id="rId5" Type="http://schemas.openxmlformats.org/officeDocument/2006/relationships/hyperlink" Target="https://www.freertos.org/Documentation/02-Kernel/04-API-references/03-Task-utilities/04-uxTaskGetStackHighWaterMark" TargetMode="External" /><Relationship Id="rId4" Type="http://schemas.openxmlformats.org/officeDocument/2006/relationships/hyperlink" Target="https://docs.espressif.com/projects/esp-idf/en/stable/esp32s2/api-reference/peripherals/uart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E9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5C9B"/>
                </a:solidFill>
                <a:latin typeface="Arial"/>
              </a:defRPr>
            </a:pPr>
            <a:r>
              <a:t>Universidad Católica del Uruguay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58703"/>
            <a:ext cx="10972800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1E5C9B"/>
                </a:solidFill>
                <a:latin typeface="Arial"/>
              </a:defRPr>
            </a:pPr>
            <a:r>
              <a:rPr sz="6600"/>
              <a:t>Laboratorio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28554"/>
            <a:ext cx="109728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BE9552"/>
                </a:solidFill>
                <a:latin typeface="Arial"/>
              </a:defRPr>
            </a:pPr>
            <a:r>
              <a:rPr sz="3600" err="1"/>
              <a:t>FreeRTOS</a:t>
            </a:r>
            <a:r>
              <a:rPr sz="3600"/>
              <a:t> </a:t>
            </a:r>
            <a:r>
              <a:rPr sz="3600" err="1"/>
              <a:t>sobre</a:t>
            </a:r>
            <a:r>
              <a:rPr sz="3600"/>
              <a:t> ESP32-S2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69509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62E3C"/>
                </a:solidFill>
                <a:latin typeface="Arial"/>
              </a:defRPr>
            </a:pPr>
            <a:r>
              <a:t>Arquitectura multitarea con UART, Queues, Mutex, Timers y memoria dinámica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06440"/>
            <a:ext cx="777240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0">
                <a:solidFill>
                  <a:srgbClr val="697480"/>
                </a:solidFill>
                <a:latin typeface="Arial"/>
              </a:defRPr>
            </a:pPr>
            <a:r>
              <a:rPr lang="es-ES"/>
              <a:t>HTTPS: </a:t>
            </a:r>
            <a:r>
              <a:rPr lang="es-ES" err="1"/>
              <a:t>Angelo</a:t>
            </a:r>
            <a:r>
              <a:t> Gauthier · Pilar Martínez · Ignacio Negri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172200"/>
            <a:ext cx="777240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697480"/>
                </a:solidFill>
                <a:latin typeface="Arial"/>
              </a:defRPr>
            </a:pPr>
            <a:r>
              <a:rPr lang="es-ES" err="1"/>
              <a:t>IoT</a:t>
            </a:r>
            <a:r>
              <a:rPr lang="es-ES"/>
              <a:t> y Diseño de Sistemas</a:t>
            </a:r>
            <a:r>
              <a:t> </a:t>
            </a:r>
            <a:r>
              <a:rPr lang="es-UY" err="1"/>
              <a:t>Embebidos</a:t>
            </a:r>
            <a:r>
              <a:t> — UCU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5C9B"/>
                </a:solidFill>
                <a:latin typeface="Arial"/>
              </a:defRPr>
            </a:pPr>
            <a:r>
              <a:t>Objetivo y flujo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68680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97480"/>
                </a:solidFill>
                <a:latin typeface="Arial"/>
              </a:defRPr>
            </a:pPr>
            <a:r>
              <a:t>Cómo se organiza el sistema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62E3C"/>
                </a:solidFill>
                <a:latin typeface="Arial"/>
              </a:defRPr>
            </a:pPr>
            <a:r>
              <a:t>El objetivo fue implementar una arquitectura multitarea con FreeRTOS, separando responsabilidades entre tres tareas que se comunican de forma segura.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697" y="2738120"/>
            <a:ext cx="3383280" cy="1325880"/>
          </a:xfrm>
          <a:prstGeom prst="roundRect">
            <a:avLst/>
          </a:prstGeom>
          <a:solidFill>
            <a:srgbClr val="E5F1FB"/>
          </a:solidFill>
          <a:ln w="15240">
            <a:solidFill>
              <a:srgbClr val="1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3697" y="2738120"/>
            <a:ext cx="73152" cy="1325880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8289" y="287527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C9B"/>
                </a:solidFill>
                <a:latin typeface="Arial"/>
              </a:defRPr>
            </a:pPr>
            <a:r>
              <a:t>Entrada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289" y="3241039"/>
            <a:ext cx="30632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62E3C"/>
                </a:solidFill>
                <a:latin typeface="Arial"/>
              </a:defRPr>
            </a:pPr>
            <a:r>
              <a:t>El usuario escribe COLOR + SEGUNDOS en el monitor serial.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5577" y="2738120"/>
            <a:ext cx="3383280" cy="1325880"/>
          </a:xfrm>
          <a:prstGeom prst="roundRect">
            <a:avLst/>
          </a:prstGeom>
          <a:solidFill>
            <a:srgbClr val="FAF4E8"/>
          </a:solidFill>
          <a:ln w="15240">
            <a:solidFill>
              <a:srgbClr val="BE9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45577" y="2738120"/>
            <a:ext cx="73152" cy="1325880"/>
          </a:xfrm>
          <a:prstGeom prst="rect">
            <a:avLst/>
          </a:prstGeom>
          <a:solidFill>
            <a:srgbClr val="BE9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10169" y="287527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9552"/>
                </a:solidFill>
                <a:latin typeface="Arial"/>
              </a:defRPr>
            </a:pPr>
            <a:r>
              <a:t>Procesamiento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0169" y="3241039"/>
            <a:ext cx="30632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62E3C"/>
                </a:solidFill>
                <a:latin typeface="Arial"/>
              </a:defRPr>
            </a:pPr>
            <a:r>
              <a:t>TASK B valida y encola; TASK C desencola y crea timers one-shot.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7457" y="2738120"/>
            <a:ext cx="3383280" cy="1325880"/>
          </a:xfrm>
          <a:prstGeom prst="roundRect">
            <a:avLst/>
          </a:prstGeom>
          <a:solidFill>
            <a:srgbClr val="E5F1FB"/>
          </a:solidFill>
          <a:ln w="15240">
            <a:solidFill>
              <a:srgbClr val="1D8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57457" y="2738120"/>
            <a:ext cx="73152" cy="1325880"/>
          </a:xfrm>
          <a:prstGeom prst="rect">
            <a:avLst/>
          </a:prstGeom>
          <a:solidFill>
            <a:srgbClr val="1D8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2049" y="287527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8BA2"/>
                </a:solidFill>
                <a:latin typeface="Arial"/>
              </a:defRPr>
            </a:pPr>
            <a:r>
              <a:t>Salida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2049" y="3241039"/>
            <a:ext cx="30632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62E3C"/>
                </a:solidFill>
                <a:latin typeface="Arial"/>
              </a:defRPr>
            </a:pPr>
            <a:r>
              <a:t>El callback actualiza el color global y TASK A parpadea el LED.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74920"/>
            <a:ext cx="1088136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800" b="1">
                <a:solidFill>
                  <a:srgbClr val="1E5C9B"/>
                </a:solidFill>
                <a:latin typeface="Arial"/>
              </a:defRPr>
            </a:pPr>
            <a:r>
              <a:rPr lang="es-ES"/>
              <a:t>El</a:t>
            </a:r>
            <a:r>
              <a:t> main solo </a:t>
            </a:r>
            <a:r>
              <a:rPr err="1"/>
              <a:t>inicializa</a:t>
            </a:r>
            <a:r>
              <a:t> </a:t>
            </a:r>
            <a:r>
              <a:rPr err="1"/>
              <a:t>recursos</a:t>
            </a:r>
            <a:r>
              <a:t> y </a:t>
            </a:r>
            <a:r>
              <a:rPr err="1"/>
              <a:t>crea</a:t>
            </a:r>
            <a:r>
              <a:t> </a:t>
            </a:r>
            <a:r>
              <a:rPr err="1"/>
              <a:t>tareas</a:t>
            </a:r>
            <a:r>
              <a:t>; luego el </a:t>
            </a:r>
            <a:r>
              <a:rPr err="1"/>
              <a:t>flujo</a:t>
            </a:r>
            <a:r>
              <a:t> </a:t>
            </a:r>
            <a:r>
              <a:rPr err="1"/>
              <a:t>ocurre</a:t>
            </a:r>
            <a:r>
              <a:t> entre </a:t>
            </a:r>
            <a:r>
              <a:rPr err="1"/>
              <a:t>tareas</a:t>
            </a:r>
            <a:r>
              <a:t> </a:t>
            </a:r>
            <a:r>
              <a:rPr lang="es-ES" err="1"/>
              <a:t>mediante</a:t>
            </a:r>
            <a:r>
              <a:rPr lang="es-ES"/>
              <a:t>:</a:t>
            </a:r>
          </a:p>
          <a:p>
            <a:pPr algn="ctr">
              <a:defRPr sz="1800" b="1">
                <a:solidFill>
                  <a:srgbClr val="1E5C9B"/>
                </a:solidFill>
                <a:latin typeface="Arial"/>
              </a:defRPr>
            </a:pPr>
            <a:r>
              <a:rPr lang="es-ES" err="1"/>
              <a:t>Queue</a:t>
            </a:r>
            <a:r>
              <a:t> + Mutex + Timers.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5C9B"/>
                </a:solidFill>
                <a:latin typeface="Arial"/>
              </a:defRPr>
            </a:pPr>
            <a:r>
              <a:t>TASK A — Parpadeo del 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68680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97480"/>
                </a:solidFill>
                <a:latin typeface="Arial"/>
              </a:defRPr>
            </a:pPr>
            <a:r>
              <a:t>Lee el color global de forma segura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508760" cy="621792"/>
          </a:xfrm>
          <a:prstGeom prst="roundRect">
            <a:avLst/>
          </a:prstGeom>
          <a:solidFill>
            <a:srgbClr val="1D8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Take mutex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31720" y="1490472"/>
            <a:ext cx="502920" cy="292608"/>
          </a:xfrm>
          <a:prstGeom prst="rightArrow">
            <a:avLst/>
          </a:prstGeom>
          <a:solidFill>
            <a:srgbClr val="69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26080" y="1325880"/>
            <a:ext cx="1508760" cy="621792"/>
          </a:xfrm>
          <a:prstGeom prst="round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Leer color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80559" y="1490472"/>
            <a:ext cx="502920" cy="292608"/>
          </a:xfrm>
          <a:prstGeom prst="rightArrow">
            <a:avLst/>
          </a:prstGeom>
          <a:solidFill>
            <a:srgbClr val="69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74920" y="1325880"/>
            <a:ext cx="1508760" cy="621792"/>
          </a:xfrm>
          <a:prstGeom prst="roundRect">
            <a:avLst/>
          </a:prstGeom>
          <a:solidFill>
            <a:srgbClr val="BE9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Give mutex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29399" y="1490472"/>
            <a:ext cx="502920" cy="292608"/>
          </a:xfrm>
          <a:prstGeom prst="rightArrow">
            <a:avLst/>
          </a:prstGeom>
          <a:solidFill>
            <a:srgbClr val="69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23760" y="1325880"/>
            <a:ext cx="1508760" cy="621792"/>
          </a:xfrm>
          <a:prstGeom prst="roundRect">
            <a:avLst/>
          </a:prstGeom>
          <a:solidFill>
            <a:srgbClr val="BE9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LED ON</a:t>
            </a:r>
            <a:br/>
            <a:r>
              <a:t>500 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78240" y="1490472"/>
            <a:ext cx="502920" cy="292608"/>
          </a:xfrm>
          <a:prstGeom prst="rightArrow">
            <a:avLst/>
          </a:prstGeom>
          <a:solidFill>
            <a:srgbClr val="69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72600" y="1325880"/>
            <a:ext cx="1508760" cy="621792"/>
          </a:xfrm>
          <a:prstGeom prst="roundRect">
            <a:avLst/>
          </a:prstGeom>
          <a:solidFill>
            <a:srgbClr val="1D8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LED OFF</a:t>
            </a:r>
            <a:br/>
            <a:r>
              <a:t>500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846" y="2698296"/>
            <a:ext cx="5212080" cy="15542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628650" indent="-285750">
              <a:spcAft>
                <a:spcPts val="600"/>
              </a:spcAft>
              <a:buFont typeface="Calibri"/>
              <a:buChar char="-"/>
              <a:defRPr sz="1600">
                <a:solidFill>
                  <a:srgbClr val="162E3C"/>
                </a:solidFill>
                <a:latin typeface="Arial"/>
              </a:defRPr>
            </a:pPr>
            <a:r>
              <a:t>Es la </a:t>
            </a:r>
            <a:r>
              <a:rPr err="1"/>
              <a:t>tarea</a:t>
            </a:r>
            <a:r>
              <a:t> de </a:t>
            </a:r>
            <a:r>
              <a:rPr err="1"/>
              <a:t>prioridad</a:t>
            </a:r>
            <a:r>
              <a:t> baja.</a:t>
            </a:r>
            <a:endParaRPr lang="es-ES"/>
          </a:p>
          <a:p>
            <a:pPr marL="628650" indent="-285750">
              <a:spcAft>
                <a:spcPts val="600"/>
              </a:spcAft>
              <a:buFont typeface="Calibri"/>
              <a:buChar char="-"/>
              <a:defRPr sz="1600">
                <a:solidFill>
                  <a:srgbClr val="162E3C"/>
                </a:solidFill>
                <a:latin typeface="Arial"/>
              </a:defRPr>
            </a:pPr>
            <a:r>
              <a:t>No decide </a:t>
            </a:r>
            <a:r>
              <a:rPr err="1"/>
              <a:t>colores</a:t>
            </a:r>
            <a:r>
              <a:t>: solo lee </a:t>
            </a:r>
            <a:r>
              <a:rPr err="1"/>
              <a:t>current_color</a:t>
            </a:r>
            <a:r>
              <a:t>.</a:t>
            </a:r>
            <a:endParaRPr>
              <a:cs typeface="Arial"/>
            </a:endParaRPr>
          </a:p>
          <a:p>
            <a:pPr marL="628650" indent="-285750">
              <a:spcAft>
                <a:spcPts val="600"/>
              </a:spcAft>
              <a:buFont typeface="Calibri"/>
              <a:buChar char="-"/>
              <a:defRPr sz="1600">
                <a:solidFill>
                  <a:srgbClr val="162E3C"/>
                </a:solidFill>
                <a:latin typeface="Arial"/>
              </a:defRPr>
            </a:pPr>
            <a:r>
              <a:t>Copia el color a </a:t>
            </a:r>
            <a:r>
              <a:rPr err="1"/>
              <a:t>una</a:t>
            </a:r>
            <a:r>
              <a:t> variable local y libera el mutex </a:t>
            </a:r>
            <a:r>
              <a:rPr err="1"/>
              <a:t>rápido</a:t>
            </a:r>
            <a:r>
              <a:t>.</a:t>
            </a:r>
            <a:endParaRPr>
              <a:cs typeface="Arial"/>
            </a:endParaRPr>
          </a:p>
          <a:p>
            <a:pPr marL="628650" indent="-285750">
              <a:spcAft>
                <a:spcPts val="600"/>
              </a:spcAft>
              <a:buFont typeface="Calibri"/>
              <a:buChar char="-"/>
              <a:defRPr sz="1600">
                <a:solidFill>
                  <a:srgbClr val="162E3C"/>
                </a:solidFill>
                <a:latin typeface="Arial"/>
              </a:defRPr>
            </a:pPr>
            <a:r>
              <a:t>Usa </a:t>
            </a:r>
            <a:r>
              <a:rPr err="1"/>
              <a:t>rgb_led_set_color</a:t>
            </a:r>
            <a:r>
              <a:t>() y </a:t>
            </a:r>
            <a:r>
              <a:rPr err="1"/>
              <a:t>rgb_led_off</a:t>
            </a:r>
            <a:r>
              <a:t>().</a:t>
            </a:r>
            <a:endParaRPr>
              <a:cs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46520" y="2514600"/>
            <a:ext cx="4983480" cy="1828800"/>
          </a:xfrm>
          <a:prstGeom prst="roundRect">
            <a:avLst/>
          </a:prstGeom>
          <a:solidFill>
            <a:srgbClr val="E5F1FB"/>
          </a:solidFill>
          <a:ln w="15240">
            <a:solidFill>
              <a:srgbClr val="1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46520" y="2514600"/>
            <a:ext cx="73152" cy="1828800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2651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C9B"/>
                </a:solidFill>
                <a:latin typeface="Arial"/>
              </a:defRPr>
            </a:pPr>
            <a:r>
              <a:t>Por qué usa mutex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017520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62E3C"/>
                </a:solidFill>
                <a:latin typeface="Arial"/>
              </a:defRPr>
            </a:pPr>
            <a:r>
              <a:t>TASK A lee el color mientras TASK C puede modificarlo desde el callback del timer. El mutex evita leer un valor inconsistente.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596" y="5918563"/>
            <a:ext cx="105156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 b="0">
                <a:solidFill>
                  <a:srgbClr val="697480"/>
                </a:solidFill>
                <a:latin typeface="Arial"/>
              </a:defRPr>
            </a:pPr>
            <a:r>
              <a:rPr lang="es-ES"/>
              <a:t>El</a:t>
            </a:r>
            <a:r>
              <a:t> LED WS2812 </a:t>
            </a:r>
            <a:r>
              <a:rPr err="1"/>
              <a:t>usa</a:t>
            </a:r>
            <a:r>
              <a:t> RMT TX </a:t>
            </a:r>
            <a:r>
              <a:rPr err="1"/>
              <a:t>indirectamente</a:t>
            </a:r>
            <a:r>
              <a:t> </a:t>
            </a:r>
            <a:r>
              <a:rPr err="1"/>
              <a:t>por</a:t>
            </a:r>
            <a:r>
              <a:t> medio del driver </a:t>
            </a:r>
            <a:r>
              <a:rPr err="1"/>
              <a:t>led_strip</a:t>
            </a:r>
            <a:r>
              <a:t>; no se </a:t>
            </a:r>
            <a:r>
              <a:rPr err="1"/>
              <a:t>configuró</a:t>
            </a:r>
            <a:r>
              <a:t> RMT </a:t>
            </a:r>
            <a:r>
              <a:rPr err="1"/>
              <a:t>manualmente</a:t>
            </a:r>
            <a: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5C9B"/>
                </a:solidFill>
                <a:latin typeface="Arial"/>
              </a:defRPr>
            </a:pPr>
            <a:r>
              <a:t>TASK B — Recepción UART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876" y="846909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97480"/>
                </a:solidFill>
                <a:latin typeface="Arial"/>
              </a:defRPr>
            </a:pPr>
            <a:r>
              <a:t>Entrada del sistema: recibe, valida y encola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1654" y="1276078"/>
            <a:ext cx="1508760" cy="621792"/>
          </a:xfrm>
          <a:prstGeom prst="round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UART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2438" y="1276078"/>
            <a:ext cx="1508760" cy="621792"/>
          </a:xfrm>
          <a:prstGeom prst="roundRect">
            <a:avLst/>
          </a:prstGeom>
          <a:solidFill>
            <a:srgbClr val="1D8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Buffer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3222" y="1276078"/>
            <a:ext cx="1508760" cy="621792"/>
          </a:xfrm>
          <a:prstGeom prst="roundRect">
            <a:avLst/>
          </a:prstGeom>
          <a:solidFill>
            <a:srgbClr val="BE9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sscanf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24006" y="1276078"/>
            <a:ext cx="1508760" cy="621792"/>
          </a:xfrm>
          <a:prstGeom prst="roundRect">
            <a:avLst/>
          </a:prstGeom>
          <a:solidFill>
            <a:srgbClr val="1D8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parse</a:t>
            </a:r>
            <a:br/>
            <a:r>
              <a:t>color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4790" y="1276078"/>
            <a:ext cx="1508760" cy="621792"/>
          </a:xfrm>
          <a:prstGeom prst="round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led_cmd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5574" y="1276078"/>
            <a:ext cx="1508760" cy="621792"/>
          </a:xfrm>
          <a:prstGeom prst="roundRect">
            <a:avLst/>
          </a:prstGeom>
          <a:solidFill>
            <a:srgbClr val="BE9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xQueue</a:t>
            </a:r>
            <a:br/>
            <a:r>
              <a:t>Send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60864"/>
            <a:ext cx="5257800" cy="20159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628650" indent="-285750">
              <a:spcAft>
                <a:spcPts val="600"/>
              </a:spcAft>
              <a:buFont typeface="Calibri"/>
              <a:buChar char="-"/>
              <a:defRPr sz="1500">
                <a:solidFill>
                  <a:srgbClr val="162E3C"/>
                </a:solidFill>
                <a:latin typeface="Arial"/>
              </a:defRPr>
            </a:pPr>
            <a:r>
              <a:t>Inicializa UART_NUM_0</a:t>
            </a:r>
            <a:endParaRPr lang="es-ES"/>
          </a:p>
          <a:p>
            <a:pPr marL="628650" indent="-285750">
              <a:spcAft>
                <a:spcPts val="600"/>
              </a:spcAft>
              <a:buFont typeface="Calibri"/>
              <a:buChar char="-"/>
              <a:defRPr sz="1500">
                <a:solidFill>
                  <a:srgbClr val="162E3C"/>
                </a:solidFill>
                <a:latin typeface="Arial"/>
              </a:defRPr>
            </a:pPr>
            <a:r>
              <a:t>Lee </a:t>
            </a:r>
            <a:r>
              <a:rPr err="1"/>
              <a:t>carácter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carácter</a:t>
            </a:r>
            <a:r>
              <a:t> con </a:t>
            </a:r>
            <a:r>
              <a:rPr err="1"/>
              <a:t>uart_read_bytes</a:t>
            </a:r>
            <a:r>
              <a:t>().</a:t>
            </a:r>
            <a:endParaRPr>
              <a:cs typeface="Arial"/>
            </a:endParaRPr>
          </a:p>
          <a:p>
            <a:pPr marL="628650" indent="-285750">
              <a:spcAft>
                <a:spcPts val="600"/>
              </a:spcAft>
              <a:buFont typeface="Calibri"/>
              <a:buChar char="-"/>
              <a:defRPr sz="1500">
                <a:solidFill>
                  <a:srgbClr val="162E3C"/>
                </a:solidFill>
                <a:latin typeface="Arial"/>
              </a:defRPr>
            </a:pPr>
            <a:r>
              <a:t>El Enter </a:t>
            </a:r>
            <a:r>
              <a:rPr err="1"/>
              <a:t>marca</a:t>
            </a:r>
            <a:r>
              <a:t> el fin del </a:t>
            </a:r>
            <a:r>
              <a:rPr err="1"/>
              <a:t>comando</a:t>
            </a:r>
            <a:r>
              <a:t>.</a:t>
            </a:r>
            <a:endParaRPr>
              <a:cs typeface="Arial"/>
            </a:endParaRPr>
          </a:p>
          <a:p>
            <a:pPr marL="628650" indent="-285750">
              <a:spcAft>
                <a:spcPts val="600"/>
              </a:spcAft>
              <a:buFont typeface="Calibri"/>
              <a:buChar char="-"/>
              <a:defRPr sz="1500">
                <a:solidFill>
                  <a:srgbClr val="162E3C"/>
                </a:solidFill>
                <a:latin typeface="Arial"/>
              </a:defRPr>
            </a:pPr>
            <a:r>
              <a:t>Formato </a:t>
            </a:r>
            <a:r>
              <a:rPr err="1"/>
              <a:t>esperado</a:t>
            </a:r>
            <a:r>
              <a:t>: COLOR SEGUNDOS, </a:t>
            </a:r>
            <a:r>
              <a:rPr err="1"/>
              <a:t>por</a:t>
            </a:r>
            <a:r>
              <a:t> </a:t>
            </a:r>
            <a:r>
              <a:rPr err="1"/>
              <a:t>ejemplo</a:t>
            </a:r>
            <a:r>
              <a:t> AZUL 5.</a:t>
            </a:r>
            <a:endParaRPr>
              <a:cs typeface="Arial"/>
            </a:endParaRPr>
          </a:p>
          <a:p>
            <a:pPr marL="628650" indent="-285750">
              <a:spcAft>
                <a:spcPts val="600"/>
              </a:spcAft>
              <a:buFont typeface="Calibri"/>
              <a:buChar char="-"/>
              <a:defRPr sz="1500">
                <a:solidFill>
                  <a:srgbClr val="162E3C"/>
                </a:solidFill>
                <a:latin typeface="Arial"/>
              </a:defRPr>
            </a:pPr>
            <a:r>
              <a:t>Si el </a:t>
            </a:r>
            <a:r>
              <a:rPr err="1"/>
              <a:t>comando</a:t>
            </a:r>
            <a:r>
              <a:t> es </a:t>
            </a:r>
            <a:r>
              <a:rPr err="1"/>
              <a:t>válido</a:t>
            </a:r>
            <a:r>
              <a:t>, </a:t>
            </a:r>
            <a:r>
              <a:rPr err="1"/>
              <a:t>llena</a:t>
            </a:r>
            <a:r>
              <a:t> </a:t>
            </a:r>
            <a:r>
              <a:rPr err="1"/>
              <a:t>led_command_t</a:t>
            </a:r>
            <a:r>
              <a:t> y lo </a:t>
            </a:r>
            <a:r>
              <a:rPr err="1"/>
              <a:t>manda</a:t>
            </a:r>
            <a:r>
              <a:t> a la cola.</a:t>
            </a:r>
            <a:endParaRPr>
              <a:cs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46520" y="2103120"/>
            <a:ext cx="4800600" cy="1143000"/>
          </a:xfrm>
          <a:prstGeom prst="roundRect">
            <a:avLst/>
          </a:prstGeom>
          <a:solidFill>
            <a:srgbClr val="E5F1FB"/>
          </a:solidFill>
          <a:ln w="15240">
            <a:solidFill>
              <a:srgbClr val="1E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6520" y="2103120"/>
            <a:ext cx="73152" cy="1143000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224027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C9B"/>
                </a:solidFill>
                <a:latin typeface="Arial"/>
              </a:defRPr>
            </a:pPr>
            <a:r>
              <a:t>Funciones clave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2606039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62E3C"/>
                </a:solidFill>
                <a:latin typeface="Arial"/>
              </a:defRPr>
            </a:pPr>
            <a:r>
              <a:t>uart_driver_install · uart_param_config · uart_set_pin · uart_read_bytes · xQueueSend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474720"/>
            <a:ext cx="4800600" cy="1143000"/>
          </a:xfrm>
          <a:prstGeom prst="roundRect">
            <a:avLst/>
          </a:prstGeom>
          <a:solidFill>
            <a:srgbClr val="FAF4E8"/>
          </a:solidFill>
          <a:ln w="15240">
            <a:solidFill>
              <a:srgbClr val="BE9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46520" y="3474720"/>
            <a:ext cx="73152" cy="1143000"/>
          </a:xfrm>
          <a:prstGeom prst="rect">
            <a:avLst/>
          </a:prstGeom>
          <a:solidFill>
            <a:srgbClr val="BE9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61187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9552"/>
                </a:solidFill>
                <a:latin typeface="Arial"/>
              </a:defRPr>
            </a:pPr>
            <a:r>
              <a:t>Manejo de errores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977639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62E3C"/>
                </a:solidFill>
                <a:latin typeface="Arial"/>
              </a:defRPr>
            </a:pPr>
            <a:r>
              <a:t>Formato incorrecto o color no reconocido: responde por UART y registra ESP_LOGW.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937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97480"/>
                </a:solidFill>
                <a:latin typeface="Arial"/>
              </a:defRPr>
            </a:pPr>
            <a:r>
              <a:t>“Responder por UART” = mostrar el mensaje en el monitor serial.</a:t>
            </a:r>
          </a:p>
        </p:txBody>
      </p:sp>
      <p:sp>
        <p:nvSpPr>
          <p:cNvPr id="28" name="Rounded Rectangle 21">
            <a:extLst>
              <a:ext uri="{FF2B5EF4-FFF2-40B4-BE49-F238E27FC236}">
                <a16:creationId xmlns:a16="http://schemas.microsoft.com/office/drawing/2014/main" id="{30372313-BAFD-E81D-8ABB-506017ECD5AD}"/>
              </a:ext>
            </a:extLst>
          </p:cNvPr>
          <p:cNvSpPr/>
          <p:nvPr/>
        </p:nvSpPr>
        <p:spPr>
          <a:xfrm>
            <a:off x="633548" y="5550262"/>
            <a:ext cx="10867571" cy="7366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5240">
            <a:solidFill>
              <a:srgbClr val="BE9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76237534-ACE3-A505-A46B-C3F766759E7C}"/>
              </a:ext>
            </a:extLst>
          </p:cNvPr>
          <p:cNvSpPr/>
          <p:nvPr/>
        </p:nvSpPr>
        <p:spPr>
          <a:xfrm>
            <a:off x="626291" y="5543004"/>
            <a:ext cx="152980" cy="74385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3">
            <a:extLst>
              <a:ext uri="{FF2B5EF4-FFF2-40B4-BE49-F238E27FC236}">
                <a16:creationId xmlns:a16="http://schemas.microsoft.com/office/drawing/2014/main" id="{6BD88E40-37AF-365F-13FB-B97F2B4DD0FD}"/>
              </a:ext>
            </a:extLst>
          </p:cNvPr>
          <p:cNvSpPr txBox="1"/>
          <p:nvPr/>
        </p:nvSpPr>
        <p:spPr>
          <a:xfrm>
            <a:off x="819911" y="5593078"/>
            <a:ext cx="448056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BE9552"/>
                </a:solidFill>
                <a:latin typeface="Arial"/>
              </a:defRPr>
            </a:pPr>
            <a:r>
              <a:rPr lang="en-US">
                <a:solidFill>
                  <a:schemeClr val="accent5">
                    <a:lumMod val="49000"/>
                  </a:schemeClr>
                </a:solidFill>
              </a:rPr>
              <a:t>Monitor de stack</a:t>
            </a:r>
            <a:endParaRPr lang="es-ES">
              <a:solidFill>
                <a:schemeClr val="accent5">
                  <a:lumMod val="49000"/>
                </a:schemeClr>
              </a:solidFill>
              <a:cs typeface="Arial"/>
            </a:endParaRP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A1BEB3E0-0363-CAC4-4A2F-DDD71CF91C38}"/>
              </a:ext>
            </a:extLst>
          </p:cNvPr>
          <p:cNvSpPr txBox="1"/>
          <p:nvPr/>
        </p:nvSpPr>
        <p:spPr>
          <a:xfrm>
            <a:off x="819911" y="5893523"/>
            <a:ext cx="10692674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 b="0">
                <a:solidFill>
                  <a:srgbClr val="162E3C"/>
                </a:solidFill>
                <a:latin typeface="Arial"/>
              </a:defRPr>
            </a:pPr>
            <a:r>
              <a:rPr lang="en-US"/>
              <a:t>Se </a:t>
            </a:r>
            <a:r>
              <a:rPr lang="en-US" err="1"/>
              <a:t>usó</a:t>
            </a:r>
            <a:r>
              <a:rPr lang="en-US"/>
              <a:t> </a:t>
            </a:r>
            <a:r>
              <a:rPr lang="en-US" err="1"/>
              <a:t>uxTaskGetStackHighWaterMark</a:t>
            </a:r>
            <a:r>
              <a:rPr lang="en-US"/>
              <a:t>() </a:t>
            </a:r>
            <a:r>
              <a:rPr lang="en-US" err="1"/>
              <a:t>en</a:t>
            </a:r>
            <a:r>
              <a:rPr lang="en-US"/>
              <a:t> TASK B y TASKC para </a:t>
            </a:r>
            <a:r>
              <a:rPr lang="en-US" err="1"/>
              <a:t>medir</a:t>
            </a:r>
            <a:r>
              <a:rPr lang="en-US"/>
              <a:t> stack libre sin </a:t>
            </a:r>
            <a:r>
              <a:rPr lang="en-US" err="1"/>
              <a:t>saturar</a:t>
            </a:r>
            <a:r>
              <a:rPr lang="en-US"/>
              <a:t> el monitor serial.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98762" y="1462440"/>
            <a:ext cx="539887" cy="256323"/>
          </a:xfrm>
          <a:prstGeom prst="rightArrow">
            <a:avLst/>
          </a:prstGeom>
          <a:solidFill>
            <a:srgbClr val="69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3824561" y="1462440"/>
            <a:ext cx="539887" cy="256323"/>
          </a:xfrm>
          <a:prstGeom prst="rightArrow">
            <a:avLst/>
          </a:prstGeom>
          <a:solidFill>
            <a:srgbClr val="69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5534246" y="1462440"/>
            <a:ext cx="539887" cy="256323"/>
          </a:xfrm>
          <a:prstGeom prst="rightArrow">
            <a:avLst/>
          </a:prstGeom>
          <a:solidFill>
            <a:srgbClr val="69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7352787" y="1462440"/>
            <a:ext cx="539887" cy="256323"/>
          </a:xfrm>
          <a:prstGeom prst="rightArrow">
            <a:avLst/>
          </a:prstGeom>
          <a:solidFill>
            <a:srgbClr val="69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9055215" y="1462440"/>
            <a:ext cx="539887" cy="256323"/>
          </a:xfrm>
          <a:prstGeom prst="rightArrow">
            <a:avLst/>
          </a:prstGeom>
          <a:solidFill>
            <a:srgbClr val="69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5C9B"/>
                </a:solidFill>
                <a:latin typeface="Arial"/>
              </a:defRPr>
            </a:pPr>
            <a:r>
              <a:t>Ajuste de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68680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97480"/>
                </a:solidFill>
                <a:latin typeface="Arial"/>
              </a:defRPr>
            </a:pPr>
            <a:r>
              <a:t>Medir → ajustar → volver a probar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9848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0">
                <a:solidFill>
                  <a:srgbClr val="162E3C"/>
                </a:solidFill>
                <a:latin typeface="Arial"/>
              </a:defRPr>
            </a:pPr>
            <a:r>
              <a:t>El stack no se </a:t>
            </a:r>
            <a:r>
              <a:rPr err="1"/>
              <a:t>ajusta</a:t>
            </a:r>
            <a:r>
              <a:t> </a:t>
            </a:r>
            <a:r>
              <a:rPr err="1"/>
              <a:t>automáticamente</a:t>
            </a:r>
            <a:r>
              <a:t> </a:t>
            </a:r>
            <a:r>
              <a:rPr err="1"/>
              <a:t>en</a:t>
            </a:r>
            <a:r>
              <a:t> runtime: se </a:t>
            </a:r>
            <a:r>
              <a:rPr lang="es-ES" err="1"/>
              <a:t>midio</a:t>
            </a:r>
            <a:r>
              <a:t> </a:t>
            </a:r>
            <a:r>
              <a:rPr err="1"/>
              <a:t>durante</a:t>
            </a:r>
            <a:r>
              <a:t> la </a:t>
            </a:r>
            <a:r>
              <a:rPr err="1"/>
              <a:t>ejecución</a:t>
            </a:r>
            <a:r>
              <a:t> y luego se </a:t>
            </a:r>
            <a:r>
              <a:rPr lang="es-ES"/>
              <a:t>redujo manualmente</a:t>
            </a:r>
            <a:r>
              <a:t> </a:t>
            </a:r>
            <a:r>
              <a:rPr err="1"/>
              <a:t>usStackDepth en</a:t>
            </a:r>
            <a:r>
              <a:t> </a:t>
            </a:r>
            <a:r>
              <a:rPr err="1"/>
              <a:t>xTaskCreate(</a:t>
            </a:r>
            <a:r>
              <a:t>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83674"/>
            <a:ext cx="1920240" cy="502920"/>
          </a:xfrm>
          <a:prstGeom prst="rect">
            <a:avLst/>
          </a:prstGeom>
          <a:solidFill>
            <a:srgbClr val="1E5C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56826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2183674"/>
            <a:ext cx="2286000" cy="502920"/>
          </a:xfrm>
          <a:prstGeom prst="rect">
            <a:avLst/>
          </a:prstGeom>
          <a:solidFill>
            <a:srgbClr val="1E5C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39" y="2256826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Stack inicial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183674"/>
            <a:ext cx="3108960" cy="502920"/>
          </a:xfrm>
          <a:prstGeom prst="rect">
            <a:avLst/>
          </a:prstGeom>
          <a:solidFill>
            <a:srgbClr val="1E5C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225682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Stack libre observado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2183674"/>
            <a:ext cx="2468880" cy="502920"/>
          </a:xfrm>
          <a:prstGeom prst="rect">
            <a:avLst/>
          </a:prstGeom>
          <a:solidFill>
            <a:srgbClr val="1E5C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25682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Stack ajustado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686594"/>
            <a:ext cx="1920240" cy="502920"/>
          </a:xfrm>
          <a:prstGeom prst="rect">
            <a:avLst/>
          </a:prstGeom>
          <a:solidFill>
            <a:srgbClr val="F6F8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759746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62E3C"/>
                </a:solidFill>
                <a:latin typeface="Arial"/>
              </a:defRPr>
            </a:pPr>
            <a:r>
              <a:t>TASK 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2686594"/>
            <a:ext cx="2286000" cy="502920"/>
          </a:xfrm>
          <a:prstGeom prst="rect">
            <a:avLst/>
          </a:prstGeom>
          <a:solidFill>
            <a:srgbClr val="F6F8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34639" y="2759746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62E3C"/>
                </a:solidFill>
                <a:latin typeface="Arial"/>
              </a:defRPr>
            </a:pPr>
            <a:r>
              <a:t>4096 bytes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2686594"/>
            <a:ext cx="3108960" cy="502920"/>
          </a:xfrm>
          <a:prstGeom prst="rect">
            <a:avLst/>
          </a:prstGeom>
          <a:solidFill>
            <a:srgbClr val="F6F8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275974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62E3C"/>
                </a:solidFill>
                <a:latin typeface="Arial"/>
              </a:defRPr>
            </a:pPr>
            <a:r>
              <a:t>no se dejó log permanente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2686594"/>
            <a:ext cx="2468880" cy="502920"/>
          </a:xfrm>
          <a:prstGeom prst="rect">
            <a:avLst/>
          </a:prstGeom>
          <a:solidFill>
            <a:srgbClr val="F6F8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75974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62E3C"/>
                </a:solidFill>
                <a:latin typeface="Arial"/>
              </a:defRPr>
            </a:pPr>
            <a:r>
              <a:t>2048 bytes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189514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262666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62E3C"/>
                </a:solidFill>
                <a:latin typeface="Arial"/>
              </a:defRPr>
            </a:pPr>
            <a:r>
              <a:t>TASK 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3189514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34639" y="3262666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62E3C"/>
                </a:solidFill>
                <a:latin typeface="Arial"/>
              </a:defRPr>
            </a:pPr>
            <a:r>
              <a:t>4096 bytes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3189514"/>
            <a:ext cx="3108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40" y="326266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62E3C"/>
                </a:solidFill>
                <a:latin typeface="Arial"/>
              </a:defRPr>
            </a:pPr>
            <a:r>
              <a:t>2192 bytes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3189514"/>
            <a:ext cx="24688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326266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62E3C"/>
                </a:solidFill>
                <a:latin typeface="Arial"/>
              </a:defRPr>
            </a:pPr>
            <a:r>
              <a:t>3072 bytes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692434"/>
            <a:ext cx="1920240" cy="502920"/>
          </a:xfrm>
          <a:prstGeom prst="rect">
            <a:avLst/>
          </a:prstGeom>
          <a:solidFill>
            <a:srgbClr val="F6F8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765586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62E3C"/>
                </a:solidFill>
                <a:latin typeface="Arial"/>
              </a:defRPr>
            </a:pPr>
            <a:r>
              <a:t>TASK 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3692434"/>
            <a:ext cx="2286000" cy="502920"/>
          </a:xfrm>
          <a:prstGeom prst="rect">
            <a:avLst/>
          </a:prstGeom>
          <a:solidFill>
            <a:srgbClr val="F6F8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34639" y="3765586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62E3C"/>
                </a:solidFill>
                <a:latin typeface="Arial"/>
              </a:defRPr>
            </a:pPr>
            <a:r>
              <a:t>4096 bytes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3692434"/>
            <a:ext cx="3108960" cy="502920"/>
          </a:xfrm>
          <a:prstGeom prst="rect">
            <a:avLst/>
          </a:prstGeom>
          <a:solidFill>
            <a:srgbClr val="F6F8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20640" y="376558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62E3C"/>
                </a:solidFill>
                <a:latin typeface="Arial"/>
              </a:defRPr>
            </a:pPr>
            <a:r>
              <a:t>2472 bytes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692434"/>
            <a:ext cx="2468880" cy="502920"/>
          </a:xfrm>
          <a:prstGeom prst="rect">
            <a:avLst/>
          </a:prstGeom>
          <a:solidFill>
            <a:srgbClr val="F6F8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0" y="3765586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62E3C"/>
                </a:solidFill>
                <a:latin typeface="Arial"/>
              </a:defRPr>
            </a:pPr>
            <a:r>
              <a:t>3072 bytes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165" y="4775925"/>
            <a:ext cx="5074920" cy="68580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3892" y="4867365"/>
            <a:ext cx="48554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  <a:latin typeface="Consolas"/>
              </a:defRPr>
            </a:pPr>
            <a:r>
              <a:t>uxTaskGetStackHighWaterMark(NULL) * sizeof(StackType_t)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6554" y="4696823"/>
            <a:ext cx="5029200" cy="1051560"/>
          </a:xfrm>
          <a:prstGeom prst="roundRect">
            <a:avLst/>
          </a:prstGeom>
          <a:solidFill>
            <a:srgbClr val="FAF4E8"/>
          </a:solidFill>
          <a:ln w="15240">
            <a:solidFill>
              <a:srgbClr val="BE9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6554" y="4696823"/>
            <a:ext cx="73152" cy="1051560"/>
          </a:xfrm>
          <a:prstGeom prst="rect">
            <a:avLst/>
          </a:prstGeom>
          <a:solidFill>
            <a:srgbClr val="BE9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41145" y="4833983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9552"/>
                </a:solidFill>
                <a:latin typeface="Arial"/>
              </a:defRPr>
            </a:pPr>
            <a:r>
              <a:t>Criterio usado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1145" y="5199743"/>
            <a:ext cx="47091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62E3C"/>
                </a:solidFill>
                <a:latin typeface="Arial"/>
              </a:defRPr>
            </a:pPr>
            <a:r>
              <a:t>Mantener margen de seguridad y no llenar el monitor con logs constantes.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5C9B"/>
                </a:solidFill>
                <a:latin typeface="Arial"/>
              </a:defRPr>
            </a:pPr>
            <a:r>
              <a:t>TASK C — Timers y memoria dinámica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68680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97480"/>
                </a:solidFill>
                <a:latin typeface="Arial"/>
              </a:defRPr>
            </a:pPr>
            <a:r>
              <a:t>Procesa comandos diferidos</a:t>
            </a: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9076D5D-7517-2CCA-6A10-2C4696453495}"/>
              </a:ext>
            </a:extLst>
          </p:cNvPr>
          <p:cNvGrpSpPr/>
          <p:nvPr/>
        </p:nvGrpSpPr>
        <p:grpSpPr>
          <a:xfrm>
            <a:off x="692386" y="1318804"/>
            <a:ext cx="10725912" cy="621792"/>
            <a:chOff x="658368" y="1005840"/>
            <a:chExt cx="10725912" cy="621792"/>
          </a:xfrm>
        </p:grpSpPr>
        <p:sp>
          <p:nvSpPr>
            <p:cNvPr id="6" name="Rounded Rectangle 5"/>
            <p:cNvSpPr/>
            <p:nvPr/>
          </p:nvSpPr>
          <p:spPr>
            <a:xfrm>
              <a:off x="658368" y="1005840"/>
              <a:ext cx="1508760" cy="621792"/>
            </a:xfrm>
            <a:prstGeom prst="roundRect">
              <a:avLst/>
            </a:prstGeom>
            <a:solidFill>
              <a:srgbClr val="1E5C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t>Queue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194560" y="1005840"/>
              <a:ext cx="1508760" cy="621792"/>
            </a:xfrm>
            <a:prstGeom prst="roundRect">
              <a:avLst/>
            </a:prstGeom>
            <a:solidFill>
              <a:srgbClr val="1D8B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t>cmd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730752" y="1005840"/>
              <a:ext cx="1508760" cy="621792"/>
            </a:xfrm>
            <a:prstGeom prst="roundRect">
              <a:avLst/>
            </a:prstGeom>
            <a:solidFill>
              <a:srgbClr val="BE95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t>malloc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266944" y="1005840"/>
              <a:ext cx="1508760" cy="621792"/>
            </a:xfrm>
            <a:prstGeom prst="roundRect">
              <a:avLst/>
            </a:prstGeom>
            <a:solidFill>
              <a:srgbClr val="1E5C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t>Timer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803136" y="1005840"/>
              <a:ext cx="1508760" cy="621792"/>
            </a:xfrm>
            <a:prstGeom prst="roundRect">
              <a:avLst/>
            </a:prstGeom>
            <a:solidFill>
              <a:srgbClr val="1D8BA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t>Callback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8339327" y="1005840"/>
              <a:ext cx="1508760" cy="621792"/>
            </a:xfrm>
            <a:prstGeom prst="roundRect">
              <a:avLst/>
            </a:prstGeom>
            <a:solidFill>
              <a:srgbClr val="BE95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t>Mutex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875520" y="1005840"/>
              <a:ext cx="1508760" cy="621792"/>
            </a:xfrm>
            <a:prstGeom prst="roundRect">
              <a:avLst/>
            </a:prstGeom>
            <a:solidFill>
              <a:srgbClr val="1E5C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200" b="1">
                  <a:solidFill>
                    <a:srgbClr val="FFFFFF"/>
                  </a:solidFill>
                  <a:latin typeface="Arial"/>
                </a:defRPr>
              </a:pPr>
              <a:r>
                <a:t>Color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41466" y="2627811"/>
            <a:ext cx="5257800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628650" indent="-285750">
              <a:spcAft>
                <a:spcPts val="600"/>
              </a:spcAft>
              <a:buFont typeface="Calibri"/>
              <a:buChar char="-"/>
              <a:defRPr sz="1500">
                <a:solidFill>
                  <a:srgbClr val="162E3C"/>
                </a:solidFill>
                <a:latin typeface="Arial"/>
              </a:defRPr>
            </a:pPr>
            <a:r>
              <a:t>Bloquea esperando comandos con </a:t>
            </a:r>
            <a:r>
              <a:rPr err="1"/>
              <a:t>xQueueReceive</a:t>
            </a:r>
            <a:r>
              <a:t>(..., </a:t>
            </a:r>
            <a:r>
              <a:rPr err="1"/>
              <a:t>portMAX_DELAY</a:t>
            </a:r>
            <a:r>
              <a:t>).</a:t>
            </a:r>
            <a:endParaRPr lang="es-ES"/>
          </a:p>
          <a:p>
            <a:pPr marL="628650" indent="-285750">
              <a:spcAft>
                <a:spcPts val="600"/>
              </a:spcAft>
              <a:buFont typeface="Calibri"/>
              <a:buChar char="-"/>
              <a:defRPr sz="1500">
                <a:solidFill>
                  <a:srgbClr val="162E3C"/>
                </a:solidFill>
                <a:latin typeface="Arial"/>
              </a:defRPr>
            </a:pPr>
            <a:r>
              <a:rPr err="1"/>
              <a:t>Reserva</a:t>
            </a:r>
            <a:r>
              <a:t> memoria con </a:t>
            </a:r>
            <a:r>
              <a:rPr err="1"/>
              <a:t>pvPortMalloc</a:t>
            </a:r>
            <a:r>
              <a:t>(</a:t>
            </a:r>
            <a:r>
              <a:rPr err="1"/>
              <a:t>sizeof</a:t>
            </a:r>
            <a:r>
              <a:t>(</a:t>
            </a:r>
            <a:r>
              <a:rPr err="1"/>
              <a:t>rgb_color_t</a:t>
            </a:r>
            <a:r>
              <a:t>)).</a:t>
            </a:r>
            <a:endParaRPr>
              <a:cs typeface="Arial"/>
            </a:endParaRPr>
          </a:p>
          <a:p>
            <a:pPr marL="628650" indent="-285750">
              <a:spcAft>
                <a:spcPts val="600"/>
              </a:spcAft>
              <a:buFont typeface="Calibri"/>
              <a:buChar char="-"/>
              <a:defRPr sz="1500">
                <a:solidFill>
                  <a:srgbClr val="162E3C"/>
                </a:solidFill>
                <a:latin typeface="Arial"/>
              </a:defRPr>
            </a:pPr>
            <a:r>
              <a:t>Crea un timer one-shot con </a:t>
            </a:r>
            <a:r>
              <a:rPr err="1"/>
              <a:t>xTimerCreate</a:t>
            </a:r>
            <a:r>
              <a:t>().</a:t>
            </a:r>
            <a:endParaRPr>
              <a:cs typeface="Arial"/>
            </a:endParaRPr>
          </a:p>
          <a:p>
            <a:pPr marL="628650" indent="-285750">
              <a:spcAft>
                <a:spcPts val="600"/>
              </a:spcAft>
              <a:buFont typeface="Calibri"/>
              <a:buChar char="-"/>
              <a:defRPr sz="1500">
                <a:solidFill>
                  <a:srgbClr val="162E3C"/>
                </a:solidFill>
                <a:latin typeface="Arial"/>
              </a:defRPr>
            </a:pPr>
            <a:r>
              <a:t>Guarda el </a:t>
            </a:r>
            <a:r>
              <a:rPr err="1"/>
              <a:t>puntero</a:t>
            </a:r>
            <a:r>
              <a:t> al color </a:t>
            </a:r>
            <a:r>
              <a:rPr err="1"/>
              <a:t>como</a:t>
            </a:r>
            <a:r>
              <a:t> </a:t>
            </a:r>
            <a:r>
              <a:rPr err="1"/>
              <a:t>pvTimerID</a:t>
            </a:r>
            <a:r>
              <a:t>.</a:t>
            </a:r>
            <a:endParaRPr>
              <a:cs typeface="Arial"/>
            </a:endParaRPr>
          </a:p>
          <a:p>
            <a:pPr marL="628650" indent="-285750">
              <a:spcAft>
                <a:spcPts val="600"/>
              </a:spcAft>
              <a:buFont typeface="Calibri"/>
              <a:buChar char="-"/>
              <a:defRPr sz="1500">
                <a:solidFill>
                  <a:srgbClr val="162E3C"/>
                </a:solidFill>
                <a:latin typeface="Arial"/>
              </a:defRPr>
            </a:pPr>
            <a:r>
              <a:t>Al </a:t>
            </a:r>
            <a:r>
              <a:rPr err="1"/>
              <a:t>expirar</a:t>
            </a:r>
            <a:r>
              <a:t>, el callback </a:t>
            </a:r>
            <a:r>
              <a:rPr err="1"/>
              <a:t>aplica</a:t>
            </a:r>
            <a:r>
              <a:t> el color </a:t>
            </a:r>
            <a:r>
              <a:rPr err="1"/>
              <a:t>protegido</a:t>
            </a:r>
            <a:r>
              <a:t> </a:t>
            </a:r>
            <a:r>
              <a:rPr err="1"/>
              <a:t>por</a:t>
            </a:r>
            <a:r>
              <a:t> mutex.</a:t>
            </a:r>
            <a:endParaRPr>
              <a:cs typeface="Arial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3BC8F5A-ED2D-2F8F-31CC-79C3DB9768E0}"/>
              </a:ext>
            </a:extLst>
          </p:cNvPr>
          <p:cNvGrpSpPr/>
          <p:nvPr/>
        </p:nvGrpSpPr>
        <p:grpSpPr>
          <a:xfrm>
            <a:off x="6460127" y="2037805"/>
            <a:ext cx="4800600" cy="1188720"/>
            <a:chOff x="6446520" y="1874519"/>
            <a:chExt cx="4800600" cy="1188720"/>
          </a:xfrm>
        </p:grpSpPr>
        <p:sp>
          <p:nvSpPr>
            <p:cNvPr id="20" name="Rounded Rectangle 19"/>
            <p:cNvSpPr/>
            <p:nvPr/>
          </p:nvSpPr>
          <p:spPr>
            <a:xfrm>
              <a:off x="6446520" y="1874519"/>
              <a:ext cx="4800600" cy="1188720"/>
            </a:xfrm>
            <a:prstGeom prst="roundRect">
              <a:avLst/>
            </a:prstGeom>
            <a:solidFill>
              <a:srgbClr val="E5F1FB"/>
            </a:solidFill>
            <a:ln w="15240">
              <a:solidFill>
                <a:srgbClr val="1E5C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446520" y="1874519"/>
              <a:ext cx="73152" cy="1188720"/>
            </a:xfrm>
            <a:prstGeom prst="rect">
              <a:avLst/>
            </a:prstGeom>
            <a:solidFill>
              <a:srgbClr val="1E5C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611112" y="2011679"/>
              <a:ext cx="44805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1E5C9B"/>
                  </a:solidFill>
                  <a:latin typeface="Arial"/>
                </a:defRPr>
              </a:pPr>
              <a:r>
                <a:t>Callback del timer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611112" y="2377439"/>
              <a:ext cx="4480560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300" b="0">
                  <a:solidFill>
                    <a:srgbClr val="162E3C"/>
                  </a:solidFill>
                  <a:latin typeface="Arial"/>
                </a:defRPr>
              </a:pPr>
              <a:r>
                <a:t>pvTimerGetTimerID() recupera el color, toma el mutex, actualiza current_color y libera el mutex.</a:t>
              </a: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D0F6EE81-311B-5B8E-AE9D-64159C8C7EF6}"/>
              </a:ext>
            </a:extLst>
          </p:cNvPr>
          <p:cNvGrpSpPr/>
          <p:nvPr/>
        </p:nvGrpSpPr>
        <p:grpSpPr>
          <a:xfrm>
            <a:off x="6460127" y="3584394"/>
            <a:ext cx="4800600" cy="1188720"/>
            <a:chOff x="6446520" y="3291840"/>
            <a:chExt cx="4800600" cy="1188720"/>
          </a:xfrm>
        </p:grpSpPr>
        <p:sp>
          <p:nvSpPr>
            <p:cNvPr id="24" name="Rounded Rectangle 23"/>
            <p:cNvSpPr/>
            <p:nvPr/>
          </p:nvSpPr>
          <p:spPr>
            <a:xfrm>
              <a:off x="6446520" y="3291840"/>
              <a:ext cx="4800600" cy="1188720"/>
            </a:xfrm>
            <a:prstGeom prst="roundRect">
              <a:avLst/>
            </a:prstGeom>
            <a:solidFill>
              <a:srgbClr val="FAF4E8"/>
            </a:solidFill>
            <a:ln w="15240">
              <a:solidFill>
                <a:srgbClr val="BE95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46520" y="3291840"/>
              <a:ext cx="73152" cy="1188720"/>
            </a:xfrm>
            <a:prstGeom prst="rect">
              <a:avLst/>
            </a:prstGeom>
            <a:solidFill>
              <a:srgbClr val="BE95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611112" y="3429000"/>
              <a:ext cx="44805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600" b="1">
                  <a:solidFill>
                    <a:srgbClr val="BE9552"/>
                  </a:solidFill>
                  <a:latin typeface="Arial"/>
                </a:defRPr>
              </a:pPr>
              <a:r>
                <a:t>Liberación segura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11112" y="3794760"/>
              <a:ext cx="4480560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300" b="0">
                  <a:solidFill>
                    <a:srgbClr val="162E3C"/>
                  </a:solidFill>
                  <a:latin typeface="Arial"/>
                </a:defRPr>
              </a:pPr>
              <a:r>
                <a:t>Después de aplicar el color, se libera memoria con vPortFree() y se elimina el timer con xTimerDelete().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2240009" y="4776380"/>
            <a:ext cx="7031082" cy="509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97480"/>
                </a:solidFill>
                <a:latin typeface="Arial"/>
              </a:defRPr>
            </a:pPr>
            <a:r>
              <a:t>Se usó pvPortMalloc/vPortFree porque son las funciones seguras dentro del entorno FreeRTOS.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E56FB4F4-855D-3D48-51BB-D64B282D5F25}"/>
              </a:ext>
            </a:extLst>
          </p:cNvPr>
          <p:cNvGrpSpPr/>
          <p:nvPr/>
        </p:nvGrpSpPr>
        <p:grpSpPr>
          <a:xfrm>
            <a:off x="2001937" y="1483396"/>
            <a:ext cx="8183880" cy="292608"/>
            <a:chOff x="2212848" y="1170432"/>
            <a:chExt cx="8183880" cy="292608"/>
          </a:xfrm>
        </p:grpSpPr>
        <p:sp>
          <p:nvSpPr>
            <p:cNvPr id="7" name="Right Arrow 6"/>
            <p:cNvSpPr/>
            <p:nvPr/>
          </p:nvSpPr>
          <p:spPr>
            <a:xfrm>
              <a:off x="2212848" y="1170432"/>
              <a:ext cx="502920" cy="292608"/>
            </a:xfrm>
            <a:prstGeom prst="rightArrow">
              <a:avLst/>
            </a:prstGeom>
            <a:solidFill>
              <a:srgbClr val="6974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3749039" y="1170432"/>
              <a:ext cx="502920" cy="292608"/>
            </a:xfrm>
            <a:prstGeom prst="rightArrow">
              <a:avLst/>
            </a:prstGeom>
            <a:solidFill>
              <a:srgbClr val="6974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5285232" y="1170432"/>
              <a:ext cx="502920" cy="292608"/>
            </a:xfrm>
            <a:prstGeom prst="rightArrow">
              <a:avLst/>
            </a:prstGeom>
            <a:solidFill>
              <a:srgbClr val="6974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6821424" y="1170432"/>
              <a:ext cx="502920" cy="292608"/>
            </a:xfrm>
            <a:prstGeom prst="rightArrow">
              <a:avLst/>
            </a:prstGeom>
            <a:solidFill>
              <a:srgbClr val="6974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8357616" y="1170432"/>
              <a:ext cx="502920" cy="292608"/>
            </a:xfrm>
            <a:prstGeom prst="rightArrow">
              <a:avLst/>
            </a:prstGeom>
            <a:solidFill>
              <a:srgbClr val="6974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9893808" y="1170432"/>
              <a:ext cx="502920" cy="292608"/>
            </a:xfrm>
            <a:prstGeom prst="rightArrow">
              <a:avLst/>
            </a:prstGeom>
            <a:solidFill>
              <a:srgbClr val="6974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EE309EDC-A8EB-1CCF-8CB5-194BBD9E7BA5}"/>
              </a:ext>
            </a:extLst>
          </p:cNvPr>
          <p:cNvGrpSpPr/>
          <p:nvPr/>
        </p:nvGrpSpPr>
        <p:grpSpPr>
          <a:xfrm>
            <a:off x="1479913" y="5298440"/>
            <a:ext cx="9576706" cy="1051399"/>
            <a:chOff x="6446520" y="3283281"/>
            <a:chExt cx="4800600" cy="1240075"/>
          </a:xfrm>
        </p:grpSpPr>
        <p:sp>
          <p:nvSpPr>
            <p:cNvPr id="35" name="Rounded Rectangle 23">
              <a:extLst>
                <a:ext uri="{FF2B5EF4-FFF2-40B4-BE49-F238E27FC236}">
                  <a16:creationId xmlns:a16="http://schemas.microsoft.com/office/drawing/2014/main" id="{1484DFBA-25FC-8410-1AFF-1C84B325927D}"/>
                </a:ext>
              </a:extLst>
            </p:cNvPr>
            <p:cNvSpPr/>
            <p:nvPr/>
          </p:nvSpPr>
          <p:spPr>
            <a:xfrm>
              <a:off x="6446520" y="3291840"/>
              <a:ext cx="4800600" cy="118872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5240">
              <a:solidFill>
                <a:srgbClr val="BE95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24">
              <a:extLst>
                <a:ext uri="{FF2B5EF4-FFF2-40B4-BE49-F238E27FC236}">
                  <a16:creationId xmlns:a16="http://schemas.microsoft.com/office/drawing/2014/main" id="{65D8B0B0-8F22-6573-AFB5-745A8E92C70E}"/>
                </a:ext>
              </a:extLst>
            </p:cNvPr>
            <p:cNvSpPr/>
            <p:nvPr/>
          </p:nvSpPr>
          <p:spPr>
            <a:xfrm>
              <a:off x="6446520" y="3283281"/>
              <a:ext cx="58601" cy="12400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25">
              <a:extLst>
                <a:ext uri="{FF2B5EF4-FFF2-40B4-BE49-F238E27FC236}">
                  <a16:creationId xmlns:a16="http://schemas.microsoft.com/office/drawing/2014/main" id="{5B75E82F-C7AC-CE40-BEDF-C233D1F2F171}"/>
                </a:ext>
              </a:extLst>
            </p:cNvPr>
            <p:cNvSpPr txBox="1"/>
            <p:nvPr/>
          </p:nvSpPr>
          <p:spPr>
            <a:xfrm>
              <a:off x="6521508" y="3284024"/>
              <a:ext cx="4480560" cy="39930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defRPr sz="1600" b="1">
                  <a:solidFill>
                    <a:srgbClr val="BE9552"/>
                  </a:solidFill>
                  <a:latin typeface="Arial"/>
                </a:defRPr>
              </a:pPr>
              <a:r>
                <a:rPr lang="en-US" err="1">
                  <a:solidFill>
                    <a:schemeClr val="accent5">
                      <a:lumMod val="49000"/>
                    </a:schemeClr>
                  </a:solidFill>
                </a:rPr>
                <a:t>Cancelación</a:t>
              </a:r>
              <a:r>
                <a:rPr lang="en-US">
                  <a:solidFill>
                    <a:schemeClr val="accent5">
                      <a:lumMod val="49000"/>
                    </a:schemeClr>
                  </a:solidFill>
                </a:rPr>
                <a:t> de timers </a:t>
              </a:r>
              <a:r>
                <a:rPr lang="en-US" err="1">
                  <a:solidFill>
                    <a:schemeClr val="accent5">
                      <a:lumMod val="49000"/>
                    </a:schemeClr>
                  </a:solidFill>
                </a:rPr>
                <a:t>pendientes</a:t>
              </a:r>
              <a:r>
                <a:rPr lang="en-US">
                  <a:solidFill>
                    <a:schemeClr val="accent5">
                      <a:lumMod val="49000"/>
                    </a:schemeClr>
                  </a:solidFill>
                </a:rPr>
                <a:t> (</a:t>
              </a:r>
              <a:r>
                <a:rPr lang="en-US" err="1">
                  <a:solidFill>
                    <a:schemeClr val="accent5">
                      <a:lumMod val="49000"/>
                    </a:schemeClr>
                  </a:solidFill>
                </a:rPr>
                <a:t>propuesta</a:t>
              </a:r>
              <a:r>
                <a:rPr lang="en-US">
                  <a:solidFill>
                    <a:schemeClr val="accent5">
                      <a:lumMod val="49000"/>
                    </a:schemeClr>
                  </a:solidFill>
                </a:rPr>
                <a:t> de extension)</a:t>
              </a:r>
              <a:endParaRPr lang="es-ES" err="1">
                <a:solidFill>
                  <a:schemeClr val="accent5">
                    <a:lumMod val="49000"/>
                  </a:schemeClr>
                </a:solidFill>
              </a:endParaRPr>
            </a:p>
          </p:txBody>
        </p:sp>
        <p:sp>
          <p:nvSpPr>
            <p:cNvPr id="38" name="TextBox 26">
              <a:extLst>
                <a:ext uri="{FF2B5EF4-FFF2-40B4-BE49-F238E27FC236}">
                  <a16:creationId xmlns:a16="http://schemas.microsoft.com/office/drawing/2014/main" id="{46FDEC0B-7CFE-94A2-CF4D-A1173B4E81E8}"/>
                </a:ext>
              </a:extLst>
            </p:cNvPr>
            <p:cNvSpPr txBox="1"/>
            <p:nvPr/>
          </p:nvSpPr>
          <p:spPr>
            <a:xfrm>
              <a:off x="6607474" y="3674928"/>
              <a:ext cx="4480560" cy="77013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defRPr sz="1300" b="0">
                  <a:solidFill>
                    <a:srgbClr val="162E3C"/>
                  </a:solidFill>
                  <a:latin typeface="Arial"/>
                </a:defRPr>
              </a:pPr>
              <a:r>
                <a:rPr lang="en-US"/>
                <a:t>TASK C </a:t>
              </a:r>
              <a:r>
                <a:rPr lang="en-US" err="1"/>
                <a:t>mantiene</a:t>
              </a:r>
              <a:r>
                <a:rPr lang="en-US"/>
                <a:t> un </a:t>
              </a:r>
              <a:r>
                <a:rPr lang="en-US" err="1"/>
                <a:t>arreglo</a:t>
              </a:r>
              <a:r>
                <a:rPr lang="en-US"/>
                <a:t> de timers </a:t>
              </a:r>
              <a:r>
                <a:rPr lang="en-US" err="1"/>
                <a:t>activos</a:t>
              </a:r>
              <a:r>
                <a:rPr lang="en-US"/>
                <a:t> </a:t>
              </a:r>
              <a:r>
                <a:rPr lang="en-US" err="1"/>
                <a:t>por</a:t>
              </a:r>
              <a:r>
                <a:rPr lang="en-US"/>
                <a:t> color. Si </a:t>
              </a:r>
              <a:r>
                <a:rPr lang="en-US" err="1"/>
                <a:t>llegaun</a:t>
              </a:r>
              <a:r>
                <a:rPr lang="en-US"/>
                <a:t> </a:t>
              </a:r>
              <a:r>
                <a:rPr lang="en-US" err="1"/>
                <a:t>comando</a:t>
              </a:r>
              <a:r>
                <a:rPr lang="en-US"/>
                <a:t> del </a:t>
              </a:r>
              <a:r>
                <a:rPr lang="en-US" err="1"/>
                <a:t>mismo</a:t>
              </a:r>
              <a:r>
                <a:rPr lang="en-US"/>
                <a:t> color antes de </a:t>
              </a:r>
              <a:r>
                <a:rPr lang="en-US" err="1"/>
                <a:t>vencer</a:t>
              </a:r>
              <a:r>
                <a:rPr lang="en-US"/>
                <a:t> el timer anterior, </a:t>
              </a:r>
              <a:r>
                <a:rPr lang="en-US" err="1"/>
                <a:t>loreemplaza</a:t>
              </a:r>
              <a:r>
                <a:rPr lang="en-US"/>
                <a:t> y </a:t>
              </a:r>
              <a:r>
                <a:rPr lang="en-US" err="1"/>
                <a:t>evita</a:t>
              </a:r>
              <a:r>
                <a:rPr lang="en-US"/>
                <a:t> </a:t>
              </a:r>
              <a:r>
                <a:rPr lang="en-US" err="1"/>
                <a:t>acciones</a:t>
              </a:r>
              <a:r>
                <a:rPr lang="en-US"/>
                <a:t> </a:t>
              </a:r>
              <a:r>
                <a:rPr lang="en-US" err="1"/>
                <a:t>duplicadas</a:t>
              </a:r>
              <a:r>
                <a:rPr lang="en-US"/>
                <a:t>.</a:t>
              </a:r>
              <a:endParaRPr lang="es-E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29BF8-A84B-7E4A-A5CC-36FAAFF80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30AD87-14CA-7F98-B9C7-A838F24C0740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BB6CE6-9DDE-726D-9216-CEF7D5D5B393}"/>
              </a:ext>
            </a:extLst>
          </p:cNvPr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49A824-D551-CFFF-88E2-3D3DB081E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178" y="271397"/>
            <a:ext cx="4164904" cy="62003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2172992-CA1F-332A-9DE3-5087C6050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9266" y="1715021"/>
            <a:ext cx="4038600" cy="150927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err="1">
                <a:latin typeface="Arial"/>
                <a:ea typeface="+mn-lt"/>
                <a:cs typeface="Arial"/>
              </a:rPr>
              <a:t>current_color</a:t>
            </a:r>
            <a:r>
              <a:rPr lang="en-US">
                <a:latin typeface="Arial"/>
                <a:ea typeface="+mn-lt"/>
                <a:cs typeface="Arial"/>
              </a:rPr>
              <a:t> </a:t>
            </a:r>
            <a:r>
              <a:rPr lang="en-US" err="1">
                <a:latin typeface="Arial"/>
                <a:ea typeface="+mn-lt"/>
                <a:cs typeface="Arial"/>
              </a:rPr>
              <a:t>compartido</a:t>
            </a:r>
            <a:endParaRPr lang="en-US" err="1">
              <a:latin typeface="Arial"/>
              <a:ea typeface="Calibri"/>
              <a:cs typeface="Arial"/>
            </a:endParaRPr>
          </a:p>
          <a:p>
            <a:r>
              <a:rPr lang="en-US">
                <a:latin typeface="Arial"/>
                <a:ea typeface="+mn-lt"/>
                <a:cs typeface="Arial"/>
              </a:rPr>
              <a:t>TASK A lo lee</a:t>
            </a:r>
            <a:endParaRPr lang="en-US">
              <a:latin typeface="Arial"/>
              <a:ea typeface="Calibri"/>
              <a:cs typeface="Arial"/>
            </a:endParaRPr>
          </a:p>
          <a:p>
            <a:r>
              <a:rPr lang="en-US">
                <a:latin typeface="Arial"/>
                <a:ea typeface="+mn-lt"/>
                <a:cs typeface="Arial"/>
              </a:rPr>
              <a:t>callback lo escribe</a:t>
            </a:r>
            <a:endParaRPr lang="en-US">
              <a:latin typeface="Arial"/>
              <a:ea typeface="Calibri"/>
              <a:cs typeface="Arial"/>
            </a:endParaRPr>
          </a:p>
          <a:p>
            <a:r>
              <a:rPr lang="en-US">
                <a:latin typeface="Arial"/>
                <a:ea typeface="+mn-lt"/>
                <a:cs typeface="Arial"/>
              </a:rPr>
              <a:t>mutex evita conflictos.</a:t>
            </a:r>
            <a:endParaRPr lang="en-US">
              <a:latin typeface="Arial"/>
              <a:ea typeface="Calibri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394792-D0C8-6056-2F94-3603E1780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083" y="3647031"/>
            <a:ext cx="6158108" cy="14741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1BF3EA-B012-B90A-C2A4-6AD36D83A925}"/>
              </a:ext>
            </a:extLst>
          </p:cNvPr>
          <p:cNvSpPr txBox="1"/>
          <p:nvPr/>
        </p:nvSpPr>
        <p:spPr>
          <a:xfrm>
            <a:off x="6884637" y="1022814"/>
            <a:ext cx="443421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02060"/>
                </a:solidFill>
                <a:latin typeface="Arial"/>
                <a:ea typeface="Calibri"/>
                <a:cs typeface="Arial"/>
              </a:rPr>
              <a:t>Uso del Mutex</a:t>
            </a:r>
          </a:p>
        </p:txBody>
      </p:sp>
    </p:spTree>
    <p:extLst>
      <p:ext uri="{BB962C8B-B14F-4D97-AF65-F5344CB8AC3E}">
        <p14:creationId xmlns:p14="http://schemas.microsoft.com/office/powerpoint/2010/main" val="2518006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5227713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000" b="1">
                <a:solidFill>
                  <a:srgbClr val="1E5C9B"/>
                </a:solidFill>
                <a:latin typeface="Arial"/>
              </a:defRPr>
            </a:pPr>
            <a:r>
              <a:t>Demo: </a:t>
            </a:r>
            <a:r>
              <a:rPr err="1"/>
              <a:t>qué</a:t>
            </a:r>
            <a:r>
              <a:t> </a:t>
            </a:r>
            <a:r>
              <a:rPr err="1"/>
              <a:t>debería</a:t>
            </a:r>
            <a:r>
              <a:t> </a:t>
            </a:r>
            <a:r>
              <a:rPr lang="es-ES"/>
              <a:t>suceder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3105" y="5919652"/>
            <a:ext cx="1027661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200" i="1">
                <a:solidFill>
                  <a:srgbClr val="697480"/>
                </a:solidFill>
                <a:latin typeface="Arial"/>
              </a:defRPr>
            </a:pPr>
            <a:r>
              <a:rPr lang="en-US">
                <a:ea typeface="+mn-lt"/>
                <a:cs typeface="+mn-lt"/>
              </a:rPr>
              <a:t>El </a:t>
            </a:r>
            <a:r>
              <a:rPr lang="en-US" err="1">
                <a:ea typeface="+mn-lt"/>
                <a:cs typeface="+mn-lt"/>
              </a:rPr>
              <a:t>diagrama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está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simplificado</a:t>
            </a:r>
            <a:r>
              <a:rPr lang="en-US">
                <a:ea typeface="+mn-lt"/>
                <a:cs typeface="+mn-lt"/>
              </a:rPr>
              <a:t> de forma lineal para </a:t>
            </a:r>
            <a:r>
              <a:rPr lang="en-US" err="1">
                <a:ea typeface="+mn-lt"/>
                <a:cs typeface="+mn-lt"/>
              </a:rPr>
              <a:t>mostrar</a:t>
            </a:r>
            <a:r>
              <a:rPr lang="en-US">
                <a:ea typeface="+mn-lt"/>
                <a:cs typeface="+mn-lt"/>
              </a:rPr>
              <a:t> el </a:t>
            </a:r>
            <a:r>
              <a:rPr lang="en-US" err="1">
                <a:ea typeface="+mn-lt"/>
                <a:cs typeface="+mn-lt"/>
              </a:rPr>
              <a:t>flujo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lógico</a:t>
            </a:r>
            <a:r>
              <a:rPr lang="en-US">
                <a:ea typeface="+mn-lt"/>
                <a:cs typeface="+mn-lt"/>
              </a:rPr>
              <a:t> del </a:t>
            </a:r>
            <a:r>
              <a:rPr lang="en-US" err="1">
                <a:ea typeface="+mn-lt"/>
                <a:cs typeface="+mn-lt"/>
              </a:rPr>
              <a:t>comando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aunque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internamente</a:t>
            </a:r>
            <a:r>
              <a:rPr lang="en-US">
                <a:ea typeface="+mn-lt"/>
                <a:cs typeface="+mn-lt"/>
              </a:rPr>
              <a:t> las </a:t>
            </a:r>
            <a:r>
              <a:rPr lang="en-US" err="1">
                <a:ea typeface="+mn-lt"/>
                <a:cs typeface="+mn-lt"/>
              </a:rPr>
              <a:t>tareas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ejecutan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concurrentemente</a:t>
            </a:r>
            <a:endParaRPr lang="es-ES" err="1">
              <a:ea typeface="+mn-lt"/>
              <a:cs typeface="Arial"/>
            </a:endParaRPr>
          </a:p>
          <a:p>
            <a:pPr algn="ctr">
              <a:defRPr sz="1200" i="1">
                <a:solidFill>
                  <a:srgbClr val="697480"/>
                </a:solidFill>
                <a:latin typeface="Arial"/>
              </a:defRPr>
            </a:pP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mediante</a:t>
            </a:r>
            <a:r>
              <a:rPr lang="en-US">
                <a:ea typeface="+mn-lt"/>
                <a:cs typeface="+mn-lt"/>
              </a:rPr>
              <a:t> el scheduler de </a:t>
            </a:r>
            <a:r>
              <a:rPr lang="en-US" err="1">
                <a:ea typeface="+mn-lt"/>
                <a:cs typeface="+mn-lt"/>
              </a:rPr>
              <a:t>FreeRTOS</a:t>
            </a:r>
            <a:r>
              <a:rPr lang="en-US">
                <a:ea typeface="+mn-lt"/>
                <a:cs typeface="+mn-lt"/>
              </a:rPr>
              <a:t>.</a:t>
            </a:r>
            <a:endParaRPr lang="es-ES">
              <a:cs typeface="Arial"/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9B6866C-05DC-9161-D57E-102425F9C2DC}"/>
              </a:ext>
            </a:extLst>
          </p:cNvPr>
          <p:cNvGrpSpPr/>
          <p:nvPr/>
        </p:nvGrpSpPr>
        <p:grpSpPr>
          <a:xfrm>
            <a:off x="108857" y="764076"/>
            <a:ext cx="11950762" cy="5040390"/>
            <a:chOff x="108857" y="764076"/>
            <a:chExt cx="11950762" cy="5040390"/>
          </a:xfrm>
        </p:grpSpPr>
        <p:pic>
          <p:nvPicPr>
            <p:cNvPr id="21" name="Imagen 20" descr="Imagen que contiene Escala de tiempo&#10;&#10;El contenido generado por IA puede ser incorrecto.">
              <a:extLst>
                <a:ext uri="{FF2B5EF4-FFF2-40B4-BE49-F238E27FC236}">
                  <a16:creationId xmlns:a16="http://schemas.microsoft.com/office/drawing/2014/main" id="{7DF1328D-4605-42DF-86E7-8EADD3EB5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24" t="17381"/>
            <a:stretch>
              <a:fillRect/>
            </a:stretch>
          </p:blipFill>
          <p:spPr>
            <a:xfrm>
              <a:off x="108857" y="764076"/>
              <a:ext cx="11945258" cy="5040390"/>
            </a:xfrm>
            <a:prstGeom prst="rect">
              <a:avLst/>
            </a:prstGeom>
          </p:spPr>
        </p:pic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580E3AB3-A34C-0C60-6C82-2D564827A19A}"/>
                </a:ext>
              </a:extLst>
            </p:cNvPr>
            <p:cNvSpPr/>
            <p:nvPr/>
          </p:nvSpPr>
          <p:spPr>
            <a:xfrm>
              <a:off x="10181771" y="3726543"/>
              <a:ext cx="1877848" cy="17902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5C9B"/>
                </a:solidFill>
                <a:latin typeface="Arial"/>
              </a:defRPr>
            </a:pPr>
            <a: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2909" y="1176382"/>
            <a:ext cx="10607040" cy="40010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628650" indent="-285750">
              <a:spcAft>
                <a:spcPts val="600"/>
              </a:spcAft>
              <a:buFont typeface="Wingdings"/>
              <a:buChar char="ü"/>
              <a:defRPr sz="1700">
                <a:solidFill>
                  <a:srgbClr val="162E3C"/>
                </a:solidFill>
                <a:latin typeface="Arial"/>
              </a:defRPr>
            </a:pPr>
            <a:r>
              <a:t>Se </a:t>
            </a:r>
            <a:r>
              <a:rPr err="1"/>
              <a:t>implementó</a:t>
            </a:r>
            <a:r>
              <a:t> </a:t>
            </a:r>
            <a:r>
              <a:rPr err="1"/>
              <a:t>una</a:t>
            </a:r>
            <a:r>
              <a:t> </a:t>
            </a:r>
            <a:r>
              <a:rPr b="1" err="1"/>
              <a:t>arquitectura</a:t>
            </a:r>
            <a:r>
              <a:rPr b="1"/>
              <a:t> </a:t>
            </a:r>
            <a:r>
              <a:rPr b="1" err="1"/>
              <a:t>multitarea</a:t>
            </a:r>
            <a:r>
              <a:t> </a:t>
            </a:r>
            <a:r>
              <a:rPr err="1"/>
              <a:t>clara</a:t>
            </a:r>
            <a:r>
              <a:t>: </a:t>
            </a:r>
            <a:endParaRPr lang="es-ES">
              <a:cs typeface="Arial"/>
            </a:endParaRPr>
          </a:p>
          <a:p>
            <a:pPr marL="1085850" lvl="1" indent="-285750">
              <a:spcAft>
                <a:spcPts val="600"/>
              </a:spcAft>
              <a:buFont typeface="Wingdings"/>
              <a:buChar char="Ø"/>
              <a:defRPr sz="1700">
                <a:solidFill>
                  <a:srgbClr val="162E3C"/>
                </a:solidFill>
                <a:latin typeface="Arial"/>
              </a:defRPr>
            </a:pPr>
            <a:r>
              <a:t>entrada por UART</a:t>
            </a:r>
            <a:endParaRPr lang="es-ES">
              <a:cs typeface="Arial"/>
            </a:endParaRPr>
          </a:p>
          <a:p>
            <a:pPr marL="1085850" lvl="1" indent="-285750">
              <a:spcAft>
                <a:spcPts val="600"/>
              </a:spcAft>
              <a:buFont typeface="Wingdings"/>
              <a:buChar char="Ø"/>
              <a:defRPr sz="1700">
                <a:solidFill>
                  <a:srgbClr val="162E3C"/>
                </a:solidFill>
                <a:latin typeface="Arial"/>
              </a:defRPr>
            </a:pPr>
            <a:r>
              <a:rPr err="1"/>
              <a:t>procesamiento</a:t>
            </a:r>
            <a:r>
              <a:t> con </a:t>
            </a:r>
            <a:r>
              <a:rPr lang="es-ES"/>
              <a:t>cola</a:t>
            </a:r>
            <a:endParaRPr lang="es-ES">
              <a:cs typeface="Arial"/>
            </a:endParaRPr>
          </a:p>
          <a:p>
            <a:pPr marL="1085850" lvl="1" indent="-285750">
              <a:spcAft>
                <a:spcPts val="600"/>
              </a:spcAft>
              <a:buFont typeface="Wingdings"/>
              <a:buChar char="Ø"/>
              <a:defRPr sz="1700">
                <a:solidFill>
                  <a:srgbClr val="162E3C"/>
                </a:solidFill>
                <a:latin typeface="Arial"/>
              </a:defRPr>
            </a:pPr>
            <a:r>
              <a:rPr lang="es-ES"/>
              <a:t>ejecución</a:t>
            </a:r>
            <a:r>
              <a:t> </a:t>
            </a:r>
            <a:r>
              <a:rPr err="1"/>
              <a:t>diferida</a:t>
            </a:r>
            <a:r>
              <a:t> con </a:t>
            </a:r>
            <a:r>
              <a:rPr lang="es-ES" err="1"/>
              <a:t>timers</a:t>
            </a:r>
            <a:endParaRPr lang="es-ES" err="1">
              <a:cs typeface="Arial"/>
            </a:endParaRPr>
          </a:p>
          <a:p>
            <a:pPr marL="1085850" lvl="1" indent="-285750">
              <a:spcAft>
                <a:spcPts val="600"/>
              </a:spcAft>
              <a:buFont typeface="Wingdings"/>
              <a:buChar char="Ø"/>
              <a:defRPr sz="1700">
                <a:solidFill>
                  <a:srgbClr val="162E3C"/>
                </a:solidFill>
                <a:latin typeface="Arial"/>
              </a:defRPr>
            </a:pPr>
            <a:r>
              <a:rPr lang="es-ES"/>
              <a:t>salida</a:t>
            </a:r>
            <a:r>
              <a:t> </a:t>
            </a:r>
            <a:r>
              <a:rPr err="1"/>
              <a:t>por</a:t>
            </a:r>
            <a:r>
              <a:t> LED.</a:t>
            </a:r>
            <a:endParaRPr lang="es-ES">
              <a:cs typeface="Arial"/>
            </a:endParaRPr>
          </a:p>
          <a:p>
            <a:pPr marL="628650" indent="-285750">
              <a:spcAft>
                <a:spcPts val="600"/>
              </a:spcAft>
              <a:buFont typeface="Wingdings"/>
              <a:buChar char="ü"/>
              <a:defRPr sz="1700">
                <a:solidFill>
                  <a:srgbClr val="162E3C"/>
                </a:solidFill>
                <a:latin typeface="Arial"/>
              </a:defRPr>
            </a:pPr>
            <a:r>
              <a:t>La cola </a:t>
            </a:r>
            <a:r>
              <a:rPr err="1"/>
              <a:t>desacopla</a:t>
            </a:r>
            <a:r>
              <a:t> TASK B y TASK C, </a:t>
            </a:r>
            <a:r>
              <a:rPr err="1"/>
              <a:t>permitiendo</a:t>
            </a:r>
            <a:r>
              <a:t> </a:t>
            </a:r>
            <a:r>
              <a:rPr err="1"/>
              <a:t>que</a:t>
            </a:r>
            <a:r>
              <a:t> la </a:t>
            </a:r>
            <a:r>
              <a:rPr err="1"/>
              <a:t>recepción</a:t>
            </a:r>
            <a:r>
              <a:t> de </a:t>
            </a:r>
            <a:r>
              <a:rPr err="1"/>
              <a:t>comandos</a:t>
            </a:r>
            <a:r>
              <a:t> no </a:t>
            </a:r>
            <a:r>
              <a:rPr err="1"/>
              <a:t>dependa</a:t>
            </a:r>
            <a:r>
              <a:t> </a:t>
            </a:r>
            <a:r>
              <a:rPr err="1"/>
              <a:t>directamente</a:t>
            </a:r>
            <a:r>
              <a:t> de la </a:t>
            </a:r>
            <a:r>
              <a:rPr err="1"/>
              <a:t>creación</a:t>
            </a:r>
            <a:r>
              <a:t> de timers.</a:t>
            </a:r>
            <a:endParaRPr>
              <a:cs typeface="Arial"/>
            </a:endParaRPr>
          </a:p>
          <a:p>
            <a:pPr marL="628650" indent="-285750">
              <a:spcAft>
                <a:spcPts val="600"/>
              </a:spcAft>
              <a:buFont typeface="Wingdings"/>
              <a:buChar char="ü"/>
              <a:defRPr sz="1700">
                <a:solidFill>
                  <a:srgbClr val="162E3C"/>
                </a:solidFill>
                <a:latin typeface="Arial"/>
              </a:defRPr>
            </a:pPr>
            <a:r>
              <a:t>El </a:t>
            </a:r>
            <a:r>
              <a:rPr b="1" err="1"/>
              <a:t>mutex</a:t>
            </a:r>
            <a:r>
              <a:rPr b="1"/>
              <a:t> protege el color global</a:t>
            </a:r>
            <a:r>
              <a:t> </a:t>
            </a:r>
            <a:r>
              <a:rPr err="1"/>
              <a:t>compartido</a:t>
            </a:r>
            <a:r>
              <a:t> entre TASK A y el </a:t>
            </a:r>
            <a:r>
              <a:rPr err="1"/>
              <a:t>callback</a:t>
            </a:r>
            <a:r>
              <a:t> de </a:t>
            </a:r>
            <a:r>
              <a:rPr err="1"/>
              <a:t>los</a:t>
            </a:r>
            <a:r>
              <a:t> </a:t>
            </a:r>
            <a:r>
              <a:rPr err="1"/>
              <a:t>timers</a:t>
            </a:r>
            <a:r>
              <a:rPr lang="es-ES">
                <a:cs typeface="Arial"/>
              </a:rPr>
              <a:t>.</a:t>
            </a:r>
          </a:p>
          <a:p>
            <a:pPr marL="628650" indent="-285750">
              <a:spcAft>
                <a:spcPts val="600"/>
              </a:spcAft>
              <a:buFont typeface="Wingdings"/>
              <a:buChar char="ü"/>
              <a:defRPr sz="1700">
                <a:solidFill>
                  <a:srgbClr val="162E3C"/>
                </a:solidFill>
                <a:latin typeface="Arial"/>
              </a:defRPr>
            </a:pPr>
            <a:r>
              <a:t>La memoria </a:t>
            </a:r>
            <a:r>
              <a:rPr err="1"/>
              <a:t>dinámica</a:t>
            </a:r>
            <a:r>
              <a:t> se </a:t>
            </a:r>
            <a:r>
              <a:rPr b="1" err="1"/>
              <a:t>reserva</a:t>
            </a:r>
            <a:r>
              <a:rPr b="1"/>
              <a:t> y libera</a:t>
            </a:r>
            <a:r>
              <a:t> </a:t>
            </a:r>
            <a:r>
              <a:rPr err="1"/>
              <a:t>explícitamente</a:t>
            </a:r>
            <a:r>
              <a:t> </a:t>
            </a:r>
            <a:r>
              <a:rPr err="1"/>
              <a:t>en</a:t>
            </a:r>
            <a:r>
              <a:t> TASK C para </a:t>
            </a:r>
            <a:r>
              <a:rPr err="1"/>
              <a:t>evitar</a:t>
            </a:r>
            <a:r>
              <a:t> </a:t>
            </a:r>
            <a:r>
              <a:rPr err="1"/>
              <a:t>fugas</a:t>
            </a:r>
            <a:r>
              <a:t>.</a:t>
            </a:r>
            <a:endParaRPr lang="es-ES">
              <a:cs typeface="Arial"/>
            </a:endParaRPr>
          </a:p>
          <a:p>
            <a:pPr marL="628650" indent="-285750">
              <a:spcAft>
                <a:spcPts val="600"/>
              </a:spcAft>
              <a:buFont typeface="Wingdings"/>
              <a:buChar char="ü"/>
              <a:defRPr sz="1700">
                <a:solidFill>
                  <a:srgbClr val="162E3C"/>
                </a:solidFill>
                <a:latin typeface="Arial"/>
              </a:defRPr>
            </a:pPr>
            <a:r>
              <a:rPr lang="es-ES">
                <a:cs typeface="Arial"/>
              </a:rPr>
              <a:t>El </a:t>
            </a:r>
            <a:r>
              <a:rPr lang="es-ES" b="1">
                <a:cs typeface="Arial"/>
              </a:rPr>
              <a:t>reemplazo </a:t>
            </a:r>
            <a:r>
              <a:rPr lang="es-ES" b="1" err="1">
                <a:cs typeface="Arial"/>
              </a:rPr>
              <a:t>dinamico</a:t>
            </a:r>
            <a:r>
              <a:rPr lang="es-ES" b="1">
                <a:cs typeface="Arial"/>
              </a:rPr>
              <a:t> de </a:t>
            </a:r>
            <a:r>
              <a:rPr lang="es-ES" b="1" err="1">
                <a:cs typeface="Arial"/>
              </a:rPr>
              <a:t>timers</a:t>
            </a:r>
            <a:r>
              <a:rPr lang="es-ES">
                <a:cs typeface="Arial"/>
              </a:rPr>
              <a:t> evita duplicados del mismo color y optimiza el uso de memoria</a:t>
            </a:r>
            <a:endParaRPr lang="es-ES"/>
          </a:p>
          <a:p>
            <a:pPr marL="628650" indent="-285750">
              <a:spcAft>
                <a:spcPts val="600"/>
              </a:spcAft>
              <a:buFont typeface="Wingdings"/>
              <a:buChar char="ü"/>
              <a:defRPr sz="1700">
                <a:solidFill>
                  <a:srgbClr val="162E3C"/>
                </a:solidFill>
                <a:latin typeface="Arial"/>
              </a:defRPr>
            </a:pPr>
            <a:r>
              <a:t>El </a:t>
            </a:r>
            <a:r>
              <a:rPr b="1" err="1"/>
              <a:t>monitoreo</a:t>
            </a:r>
            <a:r>
              <a:rPr b="1"/>
              <a:t> de stack</a:t>
            </a:r>
            <a:r>
              <a:t> </a:t>
            </a:r>
            <a:r>
              <a:rPr err="1"/>
              <a:t>permitió</a:t>
            </a:r>
            <a:r>
              <a:t> </a:t>
            </a:r>
            <a:r>
              <a:rPr err="1"/>
              <a:t>reducir</a:t>
            </a:r>
            <a:r>
              <a:t> </a:t>
            </a:r>
            <a:r>
              <a:rPr err="1"/>
              <a:t>usStackDepth</a:t>
            </a:r>
            <a:r>
              <a:t> sin </a:t>
            </a:r>
            <a:r>
              <a:rPr err="1"/>
              <a:t>perder</a:t>
            </a:r>
            <a:r>
              <a:t> </a:t>
            </a:r>
            <a:r>
              <a:rPr err="1"/>
              <a:t>estabilidad</a:t>
            </a:r>
            <a:r>
              <a:t>.</a:t>
            </a:r>
          </a:p>
          <a:p>
            <a:pPr marL="342900">
              <a:spcAft>
                <a:spcPts val="600"/>
              </a:spcAft>
              <a:defRPr sz="1700">
                <a:solidFill>
                  <a:srgbClr val="162E3C"/>
                </a:solidFill>
                <a:latin typeface="Arial"/>
              </a:defRPr>
            </a:pPr>
            <a:endParaRPr lang="es-ES"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5137" y="5600337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5C9B"/>
                </a:solidFill>
                <a:latin typeface="Arial"/>
              </a:defRPr>
            </a:pPr>
            <a:r>
              <a:t>La </a:t>
            </a:r>
            <a:r>
              <a:rPr err="1"/>
              <a:t>solución</a:t>
            </a:r>
            <a:r>
              <a:t> final </a:t>
            </a:r>
            <a:r>
              <a:rPr err="1"/>
              <a:t>cumple</a:t>
            </a:r>
            <a:r>
              <a:t> </a:t>
            </a:r>
            <a:r>
              <a:rPr err="1"/>
              <a:t>los</a:t>
            </a:r>
            <a:r>
              <a:t> </a:t>
            </a:r>
            <a:r>
              <a:rPr err="1"/>
              <a:t>mecanismos</a:t>
            </a:r>
            <a:r>
              <a:t> </a:t>
            </a:r>
            <a:r>
              <a:rPr err="1"/>
              <a:t>principales</a:t>
            </a:r>
            <a:r>
              <a:t> de </a:t>
            </a:r>
            <a:r>
              <a:rPr err="1"/>
              <a:t>FreeRTOS</a:t>
            </a:r>
            <a:r>
              <a:t>: tasks, queues, mutex, timers y memoria </a:t>
            </a:r>
            <a:r>
              <a:rPr err="1"/>
              <a:t>dinámica</a:t>
            </a:r>
            <a: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473952"/>
            <a:ext cx="10972800" cy="27432"/>
          </a:xfrm>
          <a:prstGeom prst="rect">
            <a:avLst/>
          </a:prstGeom>
          <a:solidFill>
            <a:srgbClr val="1E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5C9B"/>
                </a:solidFill>
                <a:latin typeface="Arial"/>
              </a:defRPr>
            </a:pPr>
            <a:r>
              <a:t>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68680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97480"/>
                </a:solidFill>
                <a:latin typeface="Arial"/>
              </a:defRPr>
            </a:pPr>
            <a:r>
              <a:t>Fuentes utilizadas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07040" cy="55245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ptos"/>
              <a:buChar char="•"/>
              <a:defRPr sz="1800">
                <a:solidFill>
                  <a:srgbClr val="162E3C"/>
                </a:solidFill>
                <a:latin typeface="Arial"/>
              </a:defRPr>
            </a:pPr>
            <a:r>
              <a:rPr lang="es-ES" i="1">
                <a:highlight>
                  <a:srgbClr val="FFFFFF"/>
                </a:highlight>
                <a:latin typeface="Times New Roman"/>
                <a:cs typeface="Times New Roman"/>
              </a:rPr>
              <a:t>Modulo 2 </a:t>
            </a:r>
            <a:r>
              <a:rPr lang="es-ES" i="1" err="1">
                <a:highlight>
                  <a:srgbClr val="FFFFFF"/>
                </a:highlight>
                <a:latin typeface="Times New Roman"/>
                <a:cs typeface="Times New Roman"/>
              </a:rPr>
              <a:t>Introduccion</a:t>
            </a:r>
            <a:r>
              <a:rPr lang="es-ES" i="1">
                <a:highlight>
                  <a:srgbClr val="FFFFFF"/>
                </a:highlight>
                <a:latin typeface="Times New Roman"/>
                <a:cs typeface="Times New Roman"/>
              </a:rPr>
              <a:t> y conceptos </a:t>
            </a:r>
            <a:r>
              <a:rPr lang="es-ES" i="1" err="1">
                <a:highlight>
                  <a:srgbClr val="FFFFFF"/>
                </a:highlight>
                <a:latin typeface="Times New Roman"/>
                <a:cs typeface="Times New Roman"/>
              </a:rPr>
              <a:t>basicos</a:t>
            </a:r>
            <a:r>
              <a:rPr lang="es-ES">
                <a:highlight>
                  <a:srgbClr val="FFFFFF"/>
                </a:highlight>
                <a:latin typeface="Times New Roman"/>
                <a:cs typeface="Times New Roman"/>
              </a:rPr>
              <a:t>. (2026, mayo). [Diapositivas]. webasignatura.ucu.edu.uy. </a:t>
            </a:r>
            <a:r>
              <a:rPr lang="es-ES" u="sng">
                <a:highlight>
                  <a:srgbClr val="FFFFFF"/>
                </a:highlight>
                <a:latin typeface="Times New Roman"/>
                <a:cs typeface="Times New Roman"/>
                <a:hlinkClick r:id="rId2"/>
              </a:rPr>
              <a:t>https://webasignatura.ucu.edu.uy/pluginfile.php/1164065/mod_resource/content/14/M%C3%B3dulo%202%20-%20SisEm.pdf</a:t>
            </a:r>
            <a:endParaRPr lang="es-ES" u="sng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285750" indent="-285750">
              <a:buFont typeface="Aptos"/>
              <a:buChar char="•"/>
              <a:defRPr sz="1800">
                <a:solidFill>
                  <a:srgbClr val="162E3C"/>
                </a:solidFill>
                <a:latin typeface="Arial"/>
              </a:defRPr>
            </a:pPr>
            <a:endParaRPr lang="es-ES" u="sng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285750" indent="-285750">
              <a:buFont typeface="Aptos"/>
              <a:buChar char="•"/>
              <a:defRPr sz="1800">
                <a:solidFill>
                  <a:srgbClr val="162E3C"/>
                </a:solidFill>
                <a:latin typeface="Arial"/>
              </a:defRPr>
            </a:pPr>
            <a:endParaRPr lang="es-ES" u="sng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285750" indent="-285750">
              <a:buFont typeface="Aptos"/>
              <a:buChar char="•"/>
              <a:defRPr sz="1800">
                <a:solidFill>
                  <a:srgbClr val="162E3C"/>
                </a:solidFill>
                <a:latin typeface="Arial"/>
              </a:defRPr>
            </a:pPr>
            <a:r>
              <a:rPr lang="en-US" i="1" err="1">
                <a:highlight>
                  <a:srgbClr val="FFFFFF"/>
                </a:highlight>
                <a:latin typeface="Times New Roman"/>
                <a:cs typeface="Times New Roman"/>
              </a:rPr>
              <a:t>FreeRTOS</a:t>
            </a:r>
            <a:r>
              <a:rPr lang="en-US" i="1">
                <a:highlight>
                  <a:srgbClr val="FFFFFF"/>
                </a:highlight>
                <a:latin typeface="Times New Roman"/>
                <a:cs typeface="Times New Roman"/>
              </a:rPr>
              <a:t> (IDF) - ESP32 -  — ESP-IDF Programming Guide v6.0.1 documentation</a:t>
            </a:r>
            <a:r>
              <a:rPr lang="en-US">
                <a:highlight>
                  <a:srgbClr val="FFFFFF"/>
                </a:highlight>
                <a:latin typeface="Times New Roman"/>
                <a:cs typeface="Times New Roman"/>
              </a:rPr>
              <a:t>. (s. f.). </a:t>
            </a:r>
            <a:r>
              <a:rPr lang="en-US" u="sng">
                <a:highlight>
                  <a:srgbClr val="FFFFFF"/>
                </a:highlight>
                <a:latin typeface="Times New Roman"/>
                <a:cs typeface="Times New Roman"/>
                <a:hlinkClick r:id="rId3"/>
              </a:rPr>
              <a:t>https://docs.espressif.com/projects/esp-idf/en/stable/esp32/api-reference/system/freertos_idf.html#_CPPv427uxTaskGetStackHighWaterMark12TaskHandle_t</a:t>
            </a:r>
            <a:endParaRPr lang="es-ES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285750" indent="-285750">
              <a:buFont typeface="Aptos"/>
              <a:buChar char="•"/>
              <a:defRPr sz="1800">
                <a:solidFill>
                  <a:srgbClr val="162E3C"/>
                </a:solidFill>
                <a:latin typeface="Arial"/>
              </a:defRPr>
            </a:pPr>
            <a:endParaRPr lang="en-US" u="sng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285750" indent="-285750">
              <a:buFont typeface="Aptos"/>
              <a:buChar char="•"/>
              <a:defRPr sz="1800">
                <a:solidFill>
                  <a:srgbClr val="162E3C"/>
                </a:solidFill>
                <a:latin typeface="Arial"/>
              </a:defRPr>
            </a:pPr>
            <a:endParaRPr lang="en-US" u="sng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285750" indent="-285750">
              <a:buFont typeface="Aptos"/>
              <a:buChar char="•"/>
              <a:defRPr sz="1800">
                <a:solidFill>
                  <a:srgbClr val="162E3C"/>
                </a:solidFill>
                <a:latin typeface="Arial"/>
              </a:defRPr>
            </a:pPr>
            <a:r>
              <a:rPr lang="en-US" i="1">
                <a:highlight>
                  <a:srgbClr val="FFFFFF"/>
                </a:highlight>
                <a:latin typeface="Times New Roman"/>
                <a:cs typeface="Times New Roman"/>
              </a:rPr>
              <a:t>Universal Asynchronous Receiver/Transmitter (UART) - ESP32-S2 -  — ESP-IDF Programming Guide v6.0.1 documentation</a:t>
            </a:r>
            <a:r>
              <a:rPr lang="en-US">
                <a:highlight>
                  <a:srgbClr val="FFFFFF"/>
                </a:highlight>
                <a:latin typeface="Times New Roman"/>
                <a:cs typeface="Times New Roman"/>
              </a:rPr>
              <a:t>. (s. f.). </a:t>
            </a:r>
            <a:r>
              <a:rPr lang="en-US" u="sng">
                <a:highlight>
                  <a:srgbClr val="FFFFFF"/>
                </a:highlight>
                <a:latin typeface="Times New Roman"/>
                <a:cs typeface="Times New Roman"/>
                <a:hlinkClick r:id="rId4"/>
              </a:rPr>
              <a:t>https://docs.espressif.com/projects/esp-idf/en/stable/esp32s2/api-reference/peripherals/uart.html</a:t>
            </a:r>
            <a:endParaRPr lang="es-ES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285750" indent="-285750">
              <a:buFont typeface="Aptos"/>
              <a:buChar char="•"/>
              <a:defRPr sz="1800">
                <a:solidFill>
                  <a:srgbClr val="162E3C"/>
                </a:solidFill>
                <a:latin typeface="Arial"/>
              </a:defRPr>
            </a:pPr>
            <a:endParaRPr lang="en-US" u="sng">
              <a:highlight>
                <a:srgbClr val="FFFFFF"/>
              </a:highlight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  <a:defRPr sz="1800">
                <a:solidFill>
                  <a:srgbClr val="162E3C"/>
                </a:solidFill>
                <a:latin typeface="Arial"/>
              </a:defRPr>
            </a:pPr>
            <a:r>
              <a:rPr lang="en-US" i="1" err="1">
                <a:solidFill>
                  <a:srgbClr val="162E3C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uxTaskGetStackHighWaterMark</a:t>
            </a:r>
            <a:r>
              <a:rPr lang="en-US" i="1">
                <a:solidFill>
                  <a:srgbClr val="162E3C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, UXTaskGetStackHighWaterMark2 - </a:t>
            </a:r>
            <a:r>
              <a:rPr lang="en-US" i="1" err="1">
                <a:solidFill>
                  <a:srgbClr val="162E3C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FreeRTOSTM</a:t>
            </a:r>
            <a:r>
              <a:rPr lang="en-US" i="1">
                <a:solidFill>
                  <a:srgbClr val="162E3C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. (s. f.).</a:t>
            </a:r>
            <a:r>
              <a:rPr lang="en-US"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u="sng">
                <a:solidFill>
                  <a:srgbClr val="162E3C"/>
                </a:solidFill>
                <a:highlight>
                  <a:srgbClr val="FFFFFF"/>
                </a:highlight>
                <a:latin typeface="Times New Roman"/>
                <a:cs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https://www.freertos.org/Documentation/02-Kernel/04-API-references/03-Task-utilities/04-uxTaskGetStackHighWaterMark</a:t>
            </a:r>
            <a:endParaRPr lang="en-US" u="sng">
              <a:solidFill>
                <a:srgbClr val="162E3C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285750" indent="-285750">
              <a:buFont typeface="Aptos"/>
              <a:buChar char="•"/>
              <a:defRPr sz="1800">
                <a:solidFill>
                  <a:srgbClr val="162E3C"/>
                </a:solidFill>
                <a:latin typeface="Arial"/>
              </a:defRPr>
            </a:pPr>
            <a:endParaRPr lang="en-US" u="sng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285750" indent="-285750">
              <a:buFont typeface="Aptos"/>
              <a:buChar char="•"/>
              <a:defRPr sz="1800">
                <a:solidFill>
                  <a:srgbClr val="162E3C"/>
                </a:solidFill>
                <a:latin typeface="Arial"/>
              </a:defRPr>
            </a:pPr>
            <a:endParaRPr lang="es-ES" sz="11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342900">
              <a:spcAft>
                <a:spcPts val="600"/>
              </a:spcAft>
              <a:defRPr sz="1800">
                <a:solidFill>
                  <a:srgbClr val="162E3C"/>
                </a:solidFill>
                <a:latin typeface="Arial"/>
              </a:defRPr>
            </a:pPr>
            <a:endParaRPr lang="es-ES"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10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MARÍA MARTÍNEZ</cp:lastModifiedBy>
  <cp:revision>2</cp:revision>
  <dcterms:created xsi:type="dcterms:W3CDTF">2013-01-27T09:14:16Z</dcterms:created>
  <dcterms:modified xsi:type="dcterms:W3CDTF">2026-05-28T23:16:03Z</dcterms:modified>
  <cp:category/>
</cp:coreProperties>
</file>